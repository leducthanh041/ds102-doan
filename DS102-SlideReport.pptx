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1685" r:id="rId2"/>
    <p:sldId id="1581" r:id="rId3"/>
    <p:sldId id="1997" r:id="rId4"/>
    <p:sldId id="2018" r:id="rId5"/>
    <p:sldId id="1966" r:id="rId6"/>
    <p:sldId id="1998" r:id="rId7"/>
    <p:sldId id="2019" r:id="rId8"/>
    <p:sldId id="2031" r:id="rId9"/>
    <p:sldId id="1974" r:id="rId10"/>
    <p:sldId id="1989" r:id="rId11"/>
    <p:sldId id="1961" r:id="rId12"/>
    <p:sldId id="1999" r:id="rId13"/>
    <p:sldId id="2000" r:id="rId14"/>
    <p:sldId id="2005" r:id="rId15"/>
    <p:sldId id="2001" r:id="rId16"/>
    <p:sldId id="2003" r:id="rId17"/>
    <p:sldId id="2006" r:id="rId18"/>
    <p:sldId id="2004" r:id="rId19"/>
    <p:sldId id="2002" r:id="rId20"/>
    <p:sldId id="2007" r:id="rId21"/>
    <p:sldId id="2008" r:id="rId22"/>
    <p:sldId id="2009" r:id="rId23"/>
    <p:sldId id="2010" r:id="rId24"/>
    <p:sldId id="2011" r:id="rId25"/>
    <p:sldId id="2012" r:id="rId26"/>
    <p:sldId id="2013" r:id="rId27"/>
    <p:sldId id="2014" r:id="rId28"/>
    <p:sldId id="1962" r:id="rId29"/>
    <p:sldId id="1968" r:id="rId30"/>
    <p:sldId id="2032" r:id="rId31"/>
    <p:sldId id="1967" r:id="rId32"/>
    <p:sldId id="1977" r:id="rId33"/>
    <p:sldId id="1980" r:id="rId34"/>
    <p:sldId id="1982" r:id="rId35"/>
    <p:sldId id="1983" r:id="rId36"/>
    <p:sldId id="1969" r:id="rId37"/>
    <p:sldId id="1984" r:id="rId38"/>
    <p:sldId id="1971" r:id="rId39"/>
    <p:sldId id="1972" r:id="rId40"/>
    <p:sldId id="1986" r:id="rId41"/>
    <p:sldId id="1970" r:id="rId42"/>
    <p:sldId id="1985" r:id="rId43"/>
    <p:sldId id="1981" r:id="rId44"/>
    <p:sldId id="1973" r:id="rId45"/>
    <p:sldId id="1993" r:id="rId46"/>
    <p:sldId id="1994" r:id="rId47"/>
    <p:sldId id="1963" r:id="rId48"/>
    <p:sldId id="2027" r:id="rId49"/>
    <p:sldId id="2016" r:id="rId50"/>
    <p:sldId id="2017" r:id="rId51"/>
    <p:sldId id="2020" r:id="rId52"/>
    <p:sldId id="2021" r:id="rId53"/>
    <p:sldId id="2022" r:id="rId54"/>
    <p:sldId id="2025" r:id="rId55"/>
    <p:sldId id="2023" r:id="rId56"/>
    <p:sldId id="2024" r:id="rId57"/>
    <p:sldId id="1975" r:id="rId58"/>
    <p:sldId id="2029" r:id="rId59"/>
    <p:sldId id="2026" r:id="rId60"/>
    <p:sldId id="2030" r:id="rId61"/>
    <p:sldId id="2028" r:id="rId62"/>
    <p:sldId id="1964" r:id="rId63"/>
    <p:sldId id="1995" r:id="rId64"/>
    <p:sldId id="1996" r:id="rId65"/>
    <p:sldId id="1965" r:id="rId66"/>
    <p:sldId id="1988" r:id="rId67"/>
    <p:sldId id="1987" r:id="rId68"/>
    <p:sldId id="1960" r:id="rId6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FF"/>
    <a:srgbClr val="FF9933"/>
    <a:srgbClr val="008000"/>
    <a:srgbClr val="000099"/>
    <a:srgbClr val="FF6600"/>
    <a:srgbClr val="66FFFF"/>
    <a:srgbClr val="FF33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B57401-713A-40B2-BF10-9EE27213AF04}" v="6" dt="2026-01-02T00:24:08.2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2) Vì sao chọn k = 200 mẫu/round (giải thích theo “độ phức tạp” của review)</a:t>
            </a:r>
          </a:p>
          <a:p>
            <a:r>
              <a:rPr lang="vi-VN"/>
              <a:t>Bạn có thể trình bày k=200 như một </a:t>
            </a:r>
            <a:r>
              <a:rPr lang="vi-VN" b="1"/>
              <a:t>thiết kế để “đủ gặp các tình huống khó” trong mỗi vòng</a:t>
            </a:r>
            <a:r>
              <a:rPr lang="vi-VN"/>
              <a:t>, đồng thời </a:t>
            </a:r>
            <a:r>
              <a:rPr lang="vi-VN" b="1"/>
              <a:t>không tạo mệt mỏi quá mức</a:t>
            </a:r>
            <a:r>
              <a:rPr lang="vi-VN"/>
              <a:t>.</a:t>
            </a:r>
          </a:p>
          <a:p>
            <a:r>
              <a:rPr lang="vi-VN" b="1"/>
              <a:t>2.1. k=200 đảm bảo mỗi round có đủ “mẫu khó” để huấn luyện thật sự (không bị may rủi)</a:t>
            </a:r>
          </a:p>
          <a:p>
            <a:r>
              <a:rPr lang="vi-VN"/>
              <a:t>Dựa trên tỉ lệ mẫu có dấu hiệu mơ hồ/đối lập/bất định ở trên, nếu k=200 thì kỳ vọng mỗi round có:</a:t>
            </a:r>
          </a:p>
          <a:p>
            <a:r>
              <a:rPr lang="vi-VN"/>
              <a:t>~</a:t>
            </a:r>
            <a:r>
              <a:rPr lang="vi-VN" b="1"/>
              <a:t>21</a:t>
            </a:r>
            <a:r>
              <a:rPr lang="vi-VN"/>
              <a:t> mẫu có “bất định/đồn đoán/nguy cơ”</a:t>
            </a:r>
          </a:p>
          <a:p>
            <a:r>
              <a:rPr lang="vi-VN"/>
              <a:t>~</a:t>
            </a:r>
            <a:r>
              <a:rPr lang="vi-VN" b="1"/>
              <a:t>17</a:t>
            </a:r>
            <a:r>
              <a:rPr lang="vi-VN"/>
              <a:t> mẫu có “nhưng/tuy nhiên/đối lập”</a:t>
            </a:r>
          </a:p>
          <a:p>
            <a:r>
              <a:rPr lang="vi-VN"/>
              <a:t>~</a:t>
            </a:r>
            <a:r>
              <a:rPr lang="vi-VN" b="1"/>
              <a:t>18</a:t>
            </a:r>
            <a:r>
              <a:rPr lang="vi-VN"/>
              <a:t> mẫu có “thiệt hại”</a:t>
            </a:r>
          </a:p>
          <a:p>
            <a:r>
              <a:rPr lang="vi-VN"/>
              <a:t>~</a:t>
            </a:r>
            <a:r>
              <a:rPr lang="vi-VN" b="1"/>
              <a:t>17</a:t>
            </a:r>
            <a:r>
              <a:rPr lang="vi-VN"/>
              <a:t> mẫu có “thành tích”</a:t>
            </a:r>
          </a:p>
          <a:p>
            <a:r>
              <a:rPr lang="vi-VN"/>
              <a:t>Tức là </a:t>
            </a:r>
            <a:r>
              <a:rPr lang="vi-VN" b="1"/>
              <a:t>mỗi round luôn có đủ “đạn thật”</a:t>
            </a:r>
            <a:r>
              <a:rPr lang="vi-VN"/>
              <a:t> để:</a:t>
            </a:r>
          </a:p>
          <a:p>
            <a:r>
              <a:rPr lang="vi-VN"/>
              <a:t>phát hiện lỗi hệ thống (systematic disagreement)</a:t>
            </a:r>
          </a:p>
          <a:p>
            <a:r>
              <a:rPr lang="vi-VN"/>
              <a:t>thảo luận và cập nhật guideline/ ví dụ chuẩn</a:t>
            </a:r>
          </a:p>
          <a:p>
            <a:r>
              <a:rPr lang="vi-VN"/>
              <a:t>“chốt ngưỡng” Positive vs Neutral và Neutral vs Negative</a:t>
            </a:r>
          </a:p>
          <a:p>
            <a:r>
              <a:rPr lang="vi-VN"/>
              <a:t>Nếu k nhỏ (ví dụ 50–100), số mẫu khó/round giảm mạnh → có round gần như toàn mẫu dễ, IAA tăng “ảo”; có round lại toàn mẫu khó, IAA giảm mạnh → training bị điều khiển bởi may rủi của batch.</a:t>
            </a:r>
          </a:p>
          <a:p>
            <a:r>
              <a:rPr lang="vi-VN" b="1"/>
              <a:t>2.2. k=200 là điểm cân bằng để hạn chế drift do quá tải nhận thức</a:t>
            </a:r>
          </a:p>
          <a:p>
            <a:r>
              <a:rPr lang="vi-VN"/>
              <a:t>Từ dữ liệu của bạn, một review trung bình khoảng </a:t>
            </a:r>
            <a:r>
              <a:rPr lang="vi-VN" b="1"/>
              <a:t>~53 từ</a:t>
            </a:r>
            <a:r>
              <a:rPr lang="vi-VN"/>
              <a:t>. Một round 200 mẫu ≈ </a:t>
            </a:r>
            <a:r>
              <a:rPr lang="vi-VN" b="1"/>
              <a:t>10,600 từ</a:t>
            </a:r>
            <a:r>
              <a:rPr lang="vi-VN"/>
              <a:t>.</a:t>
            </a:r>
          </a:p>
          <a:p>
            <a:r>
              <a:rPr lang="vi-VN"/>
              <a:t>Đây là kích thước vừa đủ để làm việc trong 1 buổi huấn luyện (có nghỉ), giảm rủi ro “đọc lướt” do quá dài.</a:t>
            </a:r>
          </a:p>
          <a:p>
            <a:r>
              <a:rPr lang="vi-VN"/>
              <a:t>Nếu tăng k quá lớn, drift tăng vì fatigue; người gán nhãn bắt đầu dựa vào heuristic, bỏ qua chi tiết “lật nhãn” như “nguy cơ”, “cảnh báo”, “thua đau”, “cực vui”…</a:t>
            </a:r>
          </a:p>
          <a:p>
            <a:r>
              <a:rPr lang="vi-VN" b="1"/>
              <a:t>2.3. k=200 cho phép “đào tạo chống mindset drift” bằng cơ chế tái kiểm (retest)</a:t>
            </a:r>
          </a:p>
          <a:p>
            <a:r>
              <a:rPr lang="vi-VN"/>
              <a:t>Huấn luyện annotators hiệu quả thường cần chèn:</a:t>
            </a:r>
          </a:p>
          <a:p>
            <a:r>
              <a:rPr lang="vi-VN"/>
              <a:t>một nhóm nhỏ “anchor items” (mẫu ranh giới) để kiểm tra drift trong cùng round/giữa rounds</a:t>
            </a:r>
          </a:p>
          <a:p>
            <a:r>
              <a:rPr lang="vi-VN"/>
              <a:t>Với k=200, bạn có thể dành 5–10% (~10–20 mẫu) làm anchor mà vẫn còn đủ mẫu mới để học. Nếu k quá nhỏ, chèn anchor sẽ làm batch “thiếu nội dung mới”, học không tiến.</a:t>
            </a:r>
          </a:p>
          <a:p>
            <a:endParaRPr lang="en-US"/>
          </a:p>
        </p:txBody>
      </p:sp>
      <p:sp>
        <p:nvSpPr>
          <p:cNvPr id="4" name="Slide Number Placeholder 3"/>
          <p:cNvSpPr>
            <a:spLocks noGrp="1"/>
          </p:cNvSpPr>
          <p:nvPr>
            <p:ph type="sldNum" sz="quarter" idx="5"/>
          </p:nvPr>
        </p:nvSpPr>
        <p:spPr/>
        <p:txBody>
          <a:bodyPr/>
          <a:lstStyle/>
          <a:p>
            <a:pPr>
              <a:defRPr/>
            </a:pPr>
            <a:fld id="{95859DDC-9015-4B39-98F8-9F9A698DFEA6}" type="slidenum">
              <a:rPr lang="en-US" smtClean="0"/>
              <a:pPr>
                <a:defRPr/>
              </a:pPr>
              <a:t>36</a:t>
            </a:fld>
            <a:endParaRPr lang="en-US"/>
          </a:p>
        </p:txBody>
      </p:sp>
    </p:spTree>
    <p:extLst>
      <p:ext uri="{BB962C8B-B14F-4D97-AF65-F5344CB8AC3E}">
        <p14:creationId xmlns:p14="http://schemas.microsoft.com/office/powerpoint/2010/main" val="194409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3) Vì sao chọn ngưỡng dừng IAA &gt; 0.8 (giải thích theo “bản chất mơ hồ của báo chí”)</a:t>
            </a:r>
          </a:p>
          <a:p>
            <a:r>
              <a:rPr lang="vi-VN"/>
              <a:t>Bạn có thể giải thích ngưỡng 0.8 bằng 3 ý “đúng bản chất dữ liệu”, rất thuyết phục trước giáo sư:</a:t>
            </a:r>
          </a:p>
          <a:p>
            <a:r>
              <a:rPr lang="vi-VN" b="1"/>
              <a:t>3.1. Có “bất đồng không thể triệt tiêu” (irreducible ambiguity) trong tin báo chí</a:t>
            </a:r>
          </a:p>
          <a:p>
            <a:r>
              <a:rPr lang="vi-VN"/>
              <a:t>Với dữ liệu dạng </a:t>
            </a:r>
            <a:r>
              <a:rPr lang="vi-VN" i="1"/>
              <a:t>tiêu đề – nội dung</a:t>
            </a:r>
            <a:r>
              <a:rPr lang="vi-VN"/>
              <a:t>, có những vùng ranh giới </a:t>
            </a:r>
            <a:r>
              <a:rPr lang="vi-VN" b="1"/>
              <a:t>không thể định nghĩa tuyệt đối</a:t>
            </a:r>
            <a:r>
              <a:rPr lang="vi-VN"/>
              <a:t>:</a:t>
            </a:r>
          </a:p>
          <a:p>
            <a:r>
              <a:rPr lang="vi-VN"/>
              <a:t>Tin “thành tích/giải thưởng/trúng số”: Positive hay Neutral? (tùy triết lý nhãn)</a:t>
            </a:r>
          </a:p>
          <a:p>
            <a:r>
              <a:rPr lang="vi-VN"/>
              <a:t>Tin “cảnh báo/nguy cơ/dự báo”: Negative hay Neutral? (đang nói về rủi ro, chưa xảy ra)</a:t>
            </a:r>
          </a:p>
          <a:p>
            <a:r>
              <a:rPr lang="vi-VN"/>
              <a:t>Tin có cấu trúc “nhưng/tuy nhiên”: mixed sentiment → chọn dominant (&gt;50%) vẫn có chủ quan</a:t>
            </a:r>
          </a:p>
          <a:p>
            <a:r>
              <a:rPr lang="vi-VN"/>
              <a:t>Tin trích dẫn: “khen ngợi” có phải Positive hay chỉ là reporting?</a:t>
            </a:r>
          </a:p>
          <a:p>
            <a:r>
              <a:rPr lang="vi-VN"/>
              <a:t>Bạn có thể dùng ngay các ví dụ minimal pairs ở phần 1 để chứng minh: chỉ cần đổi “cực vui” ↔ “chấn thương, nguy cơ”, nhãn đổi hoàn toàn.</a:t>
            </a:r>
          </a:p>
          <a:p>
            <a:r>
              <a:rPr lang="vi-VN" b="1"/>
              <a:t>3.2. Kappa &gt; 0.8 là “đủ cao để tin được”, nhưng không đòi hỏi sự đồng thuận phi thực tế</a:t>
            </a:r>
          </a:p>
          <a:p>
            <a:r>
              <a:rPr lang="vi-VN"/>
              <a:t>Nếu đặt ngưỡng quá cao (0.9+): bạn đang buộc nhóm “đồng ý cả ở những vùng không thể đồng ý tuyệt đối”, dẫn đến:</a:t>
            </a:r>
          </a:p>
          <a:p>
            <a:pPr lvl="1"/>
            <a:r>
              <a:rPr lang="vi-VN"/>
              <a:t>annotators học thuộc mẫu thay vì hiểu guideline</a:t>
            </a:r>
          </a:p>
          <a:p>
            <a:pPr lvl="1"/>
            <a:r>
              <a:rPr lang="vi-VN"/>
              <a:t>tăng chi phí huấn luyện nhưng chất lượng tăng rất ít (diminishing returns)</a:t>
            </a:r>
          </a:p>
          <a:p>
            <a:pPr lvl="1"/>
            <a:r>
              <a:rPr lang="vi-VN"/>
              <a:t>rủi ro “over-standardization” (dữ liệu mất tự nhiên, kém đại diện thực tế)</a:t>
            </a:r>
          </a:p>
          <a:p>
            <a:r>
              <a:rPr lang="vi-VN"/>
              <a:t>Trong dữ liệu của bạn có tỷ lệ đáng kể mẫu bất định/đối lập (mục 1.3). Vì vậy </a:t>
            </a:r>
            <a:r>
              <a:rPr lang="vi-VN" b="1"/>
              <a:t>0.8 là mức thực tế</a:t>
            </a:r>
            <a:r>
              <a:rPr lang="vi-VN"/>
              <a:t> để kết luận: </a:t>
            </a:r>
            <a:r>
              <a:rPr lang="vi-VN" i="1"/>
              <a:t>đa số bất đồng đã được giải quyết về mặt guideline; phần còn lại chủ yếu là bản chất mơ hồ của task</a:t>
            </a:r>
            <a:r>
              <a:rPr lang="vi-VN"/>
              <a:t>.</a:t>
            </a:r>
          </a:p>
          <a:p>
            <a:r>
              <a:rPr lang="vi-VN" b="1"/>
              <a:t>3.3. Ngưỡng 0.8 là “điểm dừng vận hành” hợp lý để chuyển sang giai đoạn gán nhãn chính thức</a:t>
            </a:r>
          </a:p>
          <a:p>
            <a:r>
              <a:rPr lang="vi-VN"/>
              <a:t>Thông điệp bạn có thể nói thẳng:</a:t>
            </a:r>
          </a:p>
          <a:p>
            <a:r>
              <a:rPr lang="vi-VN"/>
              <a:t>“Chúng tôi dừng huấn luyện khi IAA &gt; 0.8 vì từ thời điểm đó, disagreement còn lại chủ yếu tập trung ở các trường hợp mơ hồ cố hữu của báo chí; tiếp tục huấn luyện không tối ưu chi phí–lợi ích.”</a:t>
            </a:r>
          </a:p>
          <a:p>
            <a:endParaRPr lang="en-US"/>
          </a:p>
        </p:txBody>
      </p:sp>
      <p:sp>
        <p:nvSpPr>
          <p:cNvPr id="4" name="Slide Number Placeholder 3"/>
          <p:cNvSpPr>
            <a:spLocks noGrp="1"/>
          </p:cNvSpPr>
          <p:nvPr>
            <p:ph type="sldNum" sz="quarter" idx="5"/>
          </p:nvPr>
        </p:nvSpPr>
        <p:spPr/>
        <p:txBody>
          <a:bodyPr/>
          <a:lstStyle/>
          <a:p>
            <a:pPr>
              <a:defRPr/>
            </a:pPr>
            <a:fld id="{95859DDC-9015-4B39-98F8-9F9A698DFEA6}" type="slidenum">
              <a:rPr lang="en-US" smtClean="0"/>
              <a:pPr>
                <a:defRPr/>
              </a:pPr>
              <a:t>38</a:t>
            </a:fld>
            <a:endParaRPr lang="en-US"/>
          </a:p>
        </p:txBody>
      </p:sp>
    </p:spTree>
    <p:extLst>
      <p:ext uri="{BB962C8B-B14F-4D97-AF65-F5344CB8AC3E}">
        <p14:creationId xmlns:p14="http://schemas.microsoft.com/office/powerpoint/2010/main" val="1885058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hasCustomPrompt="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lvl="0"/>
            <a:r>
              <a:rPr lang="en-US"/>
              <a:t>Click to edit Master text styles</a:t>
            </a:r>
          </a:p>
        </p:txBody>
      </p:sp>
    </p:spTree>
    <p:extLst>
      <p:ext uri="{BB962C8B-B14F-4D97-AF65-F5344CB8AC3E}">
        <p14:creationId xmlns:p14="http://schemas.microsoft.com/office/powerpoint/2010/main" val="20303702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304800" y="3886200"/>
            <a:ext cx="5715000"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6172200" y="3886200"/>
            <a:ext cx="5715002" cy="1752600"/>
          </a:xfrm>
        </p:spPr>
        <p:txBody>
          <a:bodyPr/>
          <a:lstStyle>
            <a:lvl1pPr>
              <a:spcBef>
                <a:spcPts val="30"/>
              </a:spcBef>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p:txBody>
      </p:sp>
    </p:spTree>
    <p:extLst>
      <p:ext uri="{BB962C8B-B14F-4D97-AF65-F5344CB8AC3E}">
        <p14:creationId xmlns:p14="http://schemas.microsoft.com/office/powerpoint/2010/main" val="20098192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1400">
                <a:solidFill>
                  <a:srgbClr val="0066FF"/>
                </a:solidFill>
              </a:defRPr>
            </a:lvl2pPr>
            <a:lvl3pPr>
              <a:defRPr sz="1400">
                <a:solidFill>
                  <a:srgbClr val="0066FF"/>
                </a:solidFill>
              </a:defRPr>
            </a:lvl3pPr>
            <a:lvl4pPr>
              <a:defRPr sz="2800">
                <a:solidFill>
                  <a:srgbClr val="0066FF"/>
                </a:solidFill>
              </a:defRPr>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Click to edit Master text styles</a:t>
            </a:r>
          </a:p>
          <a:p>
            <a:pPr marL="1143000" marR="0" lvl="2" indent="-228600" algn="l" defTabSz="914400" rtl="0" eaLnBrk="0" fontAlgn="base" latinLnBrk="0" hangingPunct="0">
              <a:lnSpc>
                <a:spcPct val="100000"/>
              </a:lnSpc>
              <a:spcBef>
                <a:spcPct val="20000"/>
              </a:spcBef>
              <a:spcAft>
                <a:spcPct val="0"/>
              </a:spcAft>
              <a:buClrTx/>
              <a:buSzTx/>
              <a:buFontTx/>
              <a:buChar char="•"/>
              <a:tabLst/>
              <a:defRPr/>
            </a:pPr>
            <a:r>
              <a:rPr lang="en-US"/>
              <a:t>Click to edit Master text styles</a:t>
            </a:r>
          </a:p>
          <a:p>
            <a:pPr lvl="2"/>
            <a:endParaRPr lang="en-US"/>
          </a:p>
        </p:txBody>
      </p:sp>
    </p:spTree>
    <p:extLst>
      <p:ext uri="{BB962C8B-B14F-4D97-AF65-F5344CB8AC3E}">
        <p14:creationId xmlns:p14="http://schemas.microsoft.com/office/powerpoint/2010/main" val="9999548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76553698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0536144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80783120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5204C06E-4BFD-7AE1-C5B0-925E1CA3A006}"/>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0410325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27090919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10972800" cy="4286863"/>
          </a:xfrm>
        </p:spPr>
        <p:txBody>
          <a:bodyPr/>
          <a:lstStyle>
            <a:lvl1pPr marL="514350" indent="-514350">
              <a:buFont typeface="+mj-lt"/>
              <a:buAutoNum type="arabicPeriod"/>
              <a:defRPr sz="2800">
                <a:solidFill>
                  <a:srgbClr val="0066FF"/>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
        <p:nvSpPr>
          <p:cNvPr id="4" name="Content Placeholder 2">
            <a:extLst>
              <a:ext uri="{FF2B5EF4-FFF2-40B4-BE49-F238E27FC236}">
                <a16:creationId xmlns:a16="http://schemas.microsoft.com/office/drawing/2014/main" id="{EC143EFF-2D7C-66B4-AFBA-F0B1D61C26BE}"/>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85422774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0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8213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6749198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0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249C8-BF7A-4990-B3B9-274312BE8A3E}"/>
              </a:ext>
            </a:extLst>
          </p:cNvPr>
          <p:cNvSpPr>
            <a:spLocks noGrp="1"/>
          </p:cNvSpPr>
          <p:nvPr>
            <p:ph idx="1"/>
          </p:nvPr>
        </p:nvSpPr>
        <p:spPr>
          <a:xfrm>
            <a:off x="609600" y="304799"/>
            <a:ext cx="10972800" cy="5582265"/>
          </a:xfrm>
        </p:spPr>
        <p:txBody>
          <a:bodyPr/>
          <a:lstStyle>
            <a:lvl1pPr>
              <a:defRPr sz="2800"/>
            </a:lvl1pPr>
            <a:lvl2pPr>
              <a:defRPr sz="28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endParaRPr lang="vi-VN"/>
          </a:p>
        </p:txBody>
      </p:sp>
      <p:sp>
        <p:nvSpPr>
          <p:cNvPr id="2" name="Content Placeholder 2">
            <a:extLst>
              <a:ext uri="{FF2B5EF4-FFF2-40B4-BE49-F238E27FC236}">
                <a16:creationId xmlns:a16="http://schemas.microsoft.com/office/drawing/2014/main" id="{6A22855E-2136-B0AC-54BE-3BB2AF005D9A}"/>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4609300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56259912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B16425CE-E883-3624-A5E7-4BF4CB536FFC}"/>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3599389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41425375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7543800" y="1600201"/>
            <a:ext cx="40386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028212B4-9DFE-2A94-C8E6-5E7E3C27E079}"/>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989622958"/>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963645740"/>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40583111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4041648"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4" name="Content Placeholder 3"/>
          <p:cNvSpPr>
            <a:spLocks noGrp="1"/>
          </p:cNvSpPr>
          <p:nvPr>
            <p:ph sz="half" idx="2"/>
          </p:nvPr>
        </p:nvSpPr>
        <p:spPr>
          <a:xfrm>
            <a:off x="4724400" y="1600200"/>
            <a:ext cx="68580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797E723B-E223-C420-ED51-5B5A20516705}"/>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37367636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07704203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4582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4" name="Content Placeholder 2">
            <a:extLst>
              <a:ext uri="{FF2B5EF4-FFF2-40B4-BE49-F238E27FC236}">
                <a16:creationId xmlns:a16="http://schemas.microsoft.com/office/drawing/2014/main" id="{BCC583C3-4424-7F8E-3E7B-CA6ADF0427B0}"/>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24889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2359152" cy="4525963"/>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0"/>
            <a:ext cx="8458200" cy="4525963"/>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62023714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2359152" cy="4286864"/>
          </a:xfrm>
        </p:spPr>
        <p:txBody>
          <a:bodyPr/>
          <a:lstStyle>
            <a:lvl1pPr algn="just">
              <a:defRPr sz="2800"/>
            </a:lvl1pPr>
            <a:lvl2pPr>
              <a:defRPr sz="2800"/>
            </a:lvl2pPr>
            <a:lvl3pPr>
              <a:defRPr sz="2800"/>
            </a:lvl3pPr>
            <a:lvl4pPr>
              <a:defRPr sz="2800"/>
            </a:lvl4pPr>
            <a:lvl5pPr>
              <a:defRPr sz="2800"/>
            </a:lvl5pPr>
          </a:lstStyle>
          <a:p>
            <a:pPr lvl="0"/>
            <a:endParaRPr lang="vi-VN"/>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3124200" y="1600201"/>
            <a:ext cx="8458200" cy="4286864"/>
          </a:xfrm>
        </p:spPr>
        <p:txBody>
          <a:bodyPr/>
          <a:lstStyle>
            <a:lvl1pPr>
              <a:defRPr sz="2800"/>
            </a:lvl1pPr>
            <a:lvl2pPr>
              <a:defRPr sz="2800"/>
            </a:lvl2pPr>
            <a:lvl3pPr>
              <a:defRPr sz="2800"/>
            </a:lvl3pPr>
          </a:lstStyle>
          <a:p>
            <a:pPr lvl="0"/>
            <a:r>
              <a:rPr lang="en-US"/>
              <a:t>Click to edit Master text styles</a:t>
            </a:r>
          </a:p>
          <a:p>
            <a:pPr lvl="1"/>
            <a:r>
              <a:rPr lang="en-US"/>
              <a:t>Second level</a:t>
            </a:r>
          </a:p>
          <a:p>
            <a:pPr lvl="2"/>
            <a:r>
              <a:rPr lang="en-US"/>
              <a:t>Third level</a:t>
            </a:r>
            <a:endParaRPr lang="vi-VN"/>
          </a:p>
        </p:txBody>
      </p:sp>
      <p:sp>
        <p:nvSpPr>
          <p:cNvPr id="4" name="Content Placeholder 2">
            <a:extLst>
              <a:ext uri="{FF2B5EF4-FFF2-40B4-BE49-F238E27FC236}">
                <a16:creationId xmlns:a16="http://schemas.microsoft.com/office/drawing/2014/main" id="{55D3D54F-B6A2-F83D-2883-0F1C5B49BCD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516330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Two Content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901276885"/>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895A939C-68D5-2DF8-CDA1-EB138EB7C0CD}"/>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55776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285875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ntent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522287"/>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6" name="Content Placeholder 5"/>
          <p:cNvSpPr>
            <a:spLocks noGrp="1"/>
          </p:cNvSpPr>
          <p:nvPr>
            <p:ph sz="quarter" idx="4"/>
          </p:nvPr>
        </p:nvSpPr>
        <p:spPr>
          <a:xfrm>
            <a:off x="6193368" y="2174875"/>
            <a:ext cx="5389033" cy="371218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Content Placeholder 2">
            <a:extLst>
              <a:ext uri="{FF2B5EF4-FFF2-40B4-BE49-F238E27FC236}">
                <a16:creationId xmlns:a16="http://schemas.microsoft.com/office/drawing/2014/main" id="{E44EB4D9-43E9-2D6E-F53C-2767330A2DF4}"/>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49616116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0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599"/>
            <a:ext cx="6815667" cy="5153025"/>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663990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Caption 02">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800" b="1"/>
            </a:lvl1pPr>
          </a:lstStyle>
          <a:p>
            <a:r>
              <a:rPr lang="en-US"/>
              <a:t>Click to edit Master title style</a:t>
            </a:r>
            <a:endParaRPr lang="vi-VN"/>
          </a:p>
        </p:txBody>
      </p:sp>
      <p:sp>
        <p:nvSpPr>
          <p:cNvPr id="3" name="Content Placeholder 2"/>
          <p:cNvSpPr>
            <a:spLocks noGrp="1"/>
          </p:cNvSpPr>
          <p:nvPr>
            <p:ph idx="1"/>
          </p:nvPr>
        </p:nvSpPr>
        <p:spPr>
          <a:xfrm>
            <a:off x="4766733" y="990600"/>
            <a:ext cx="6815667" cy="4896464"/>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endParaRPr lang="vi-VN"/>
          </a:p>
        </p:txBody>
      </p:sp>
      <p:sp>
        <p:nvSpPr>
          <p:cNvPr id="4" name="Text Placeholder 3"/>
          <p:cNvSpPr>
            <a:spLocks noGrp="1"/>
          </p:cNvSpPr>
          <p:nvPr>
            <p:ph type="body" sz="half" idx="2"/>
          </p:nvPr>
        </p:nvSpPr>
        <p:spPr>
          <a:xfrm>
            <a:off x="609601" y="1435101"/>
            <a:ext cx="4011084" cy="44519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Content Placeholder 2">
            <a:extLst>
              <a:ext uri="{FF2B5EF4-FFF2-40B4-BE49-F238E27FC236}">
                <a16:creationId xmlns:a16="http://schemas.microsoft.com/office/drawing/2014/main" id="{10B9B77A-A705-2B88-D26C-888E54B9A2A2}"/>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2131758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9456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921189"/>
            <a:ext cx="10972800" cy="219456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80409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1031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781425"/>
            <a:ext cx="10972800" cy="2103120"/>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57311796-72DC-4BB7-31C2-CB4F68F76B2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2918828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6"/>
            <a:ext cx="10972800" cy="3014661"/>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61306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Up Dow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3660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3119377"/>
            <a:ext cx="10972800" cy="2767688"/>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D504C8E-CD1E-7326-602A-6498C81631E4}"/>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795428293"/>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Up Dow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3017520"/>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726052"/>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91901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Up Dow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8193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4552950"/>
            <a:ext cx="10972800" cy="1335024"/>
          </a:xfrm>
        </p:spPr>
        <p:txBody>
          <a:bodyPr/>
          <a:lstStyle>
            <a:lvl1pPr>
              <a:defRPr sz="2800"/>
            </a:lvl1pPr>
            <a:lvl2pPr>
              <a:defRPr sz="2800"/>
            </a:lvl2pPr>
            <a:lvl3pPr>
              <a:defRPr sz="2800"/>
            </a:lvl3pPr>
            <a:lvl4pPr>
              <a:defRPr sz="1800"/>
            </a:lvl4pPr>
          </a:lstStyle>
          <a:p>
            <a:pPr lvl="0"/>
            <a:r>
              <a:rPr lang="en-US"/>
              <a:t>Click to edit Master text styles</a:t>
            </a:r>
          </a:p>
          <a:p>
            <a:pPr lvl="1"/>
            <a:r>
              <a:rPr lang="en-US"/>
              <a:t>Second level</a:t>
            </a:r>
          </a:p>
          <a:p>
            <a:pPr lvl="2"/>
            <a:r>
              <a:rPr lang="en-US"/>
              <a:t>Third level</a:t>
            </a:r>
          </a:p>
        </p:txBody>
      </p:sp>
      <p:sp>
        <p:nvSpPr>
          <p:cNvPr id="4" name="Content Placeholder 2">
            <a:extLst>
              <a:ext uri="{FF2B5EF4-FFF2-40B4-BE49-F238E27FC236}">
                <a16:creationId xmlns:a16="http://schemas.microsoft.com/office/drawing/2014/main" id="{D4A4C1F9-81CD-D56F-EC94-62A54EC01336}"/>
              </a:ext>
            </a:extLst>
          </p:cNvPr>
          <p:cNvSpPr>
            <a:spLocks noGrp="1"/>
          </p:cNvSpPr>
          <p:nvPr>
            <p:ph idx="17"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88554045"/>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ird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5720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ird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0624656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50167656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Content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288536"/>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4" name="Content Placeholder 2">
            <a:extLst>
              <a:ext uri="{FF2B5EF4-FFF2-40B4-BE49-F238E27FC236}">
                <a16:creationId xmlns:a16="http://schemas.microsoft.com/office/drawing/2014/main" id="{166FD81B-D664-FF76-F971-91B15C5A35D7}"/>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613338590"/>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28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endParaRPr lang="en-US"/>
          </a:p>
        </p:txBody>
      </p:sp>
    </p:spTree>
    <p:extLst>
      <p:ext uri="{BB962C8B-B14F-4D97-AF65-F5344CB8AC3E}">
        <p14:creationId xmlns:p14="http://schemas.microsoft.com/office/powerpoint/2010/main" val="180967635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4112719614"/>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01">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187566929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02">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3022600"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239864" y="1066800"/>
            <a:ext cx="2952136" cy="5059363"/>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215058400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0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578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469903849"/>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04">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0"/>
            <a:ext cx="5994400" cy="61722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330361094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71942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8600" y="2130426"/>
            <a:ext cx="11811000" cy="3508374"/>
          </a:xfrm>
        </p:spPr>
        <p:txBody>
          <a:bodyPr/>
          <a:lstStyle>
            <a:lvl1pPr>
              <a:defRPr sz="2000"/>
            </a:lvl1pPr>
          </a:lstStyle>
          <a:p>
            <a:r>
              <a:rPr lang="en-US" sz="4800"/>
              <a:t>Cảm ơn quí vị đã lắng nghe</a:t>
            </a:r>
            <a:br>
              <a:rPr lang="en-US" sz="4800"/>
            </a:br>
            <a:br>
              <a:rPr lang="en-US" sz="4800"/>
            </a:br>
            <a:r>
              <a:rPr lang="en-US" sz="4800">
                <a:solidFill>
                  <a:srgbClr val="0066FF"/>
                </a:solidFill>
              </a:rPr>
              <a:t>ĐẠI HỌC QUỐC GIA TP.HCM</a:t>
            </a:r>
            <a:br>
              <a:rPr lang="en-US" sz="4800">
                <a:solidFill>
                  <a:srgbClr val="0066FF"/>
                </a:solidFill>
              </a:rPr>
            </a:br>
            <a:r>
              <a:rPr lang="en-US" sz="4400">
                <a:solidFill>
                  <a:srgbClr val="FF0000"/>
                </a:solidFill>
              </a:rPr>
              <a:t>TR</a:t>
            </a:r>
            <a:r>
              <a:rPr lang="vi-VN" sz="4400">
                <a:solidFill>
                  <a:srgbClr val="FF0000"/>
                </a:solidFill>
              </a:rPr>
              <a:t>Ư</a:t>
            </a:r>
            <a:r>
              <a:rPr lang="en-US" sz="4400">
                <a:solidFill>
                  <a:srgbClr val="FF0000"/>
                </a:solidFill>
              </a:rPr>
              <a:t>ỜNG ĐH CÔNG NGHỆ THÔNG TIN</a:t>
            </a:r>
            <a:br>
              <a:rPr lang="en-US" sz="4400">
                <a:solidFill>
                  <a:srgbClr val="FF0000"/>
                </a:solidFill>
              </a:rPr>
            </a:br>
            <a:r>
              <a:rPr lang="en-US" sz="4400">
                <a:solidFill>
                  <a:srgbClr val="0066FF"/>
                </a:solidFill>
              </a:rPr>
              <a:t>TOÀN DIỆN – SÁNG TẠO – PHỤNG SỰ</a:t>
            </a:r>
            <a:r>
              <a:rPr lang="en-US" sz="4400"/>
              <a:t> </a:t>
            </a:r>
            <a:endParaRPr lang="vi-VN"/>
          </a:p>
        </p:txBody>
      </p:sp>
    </p:spTree>
    <p:extLst>
      <p:ext uri="{BB962C8B-B14F-4D97-AF65-F5344CB8AC3E}">
        <p14:creationId xmlns:p14="http://schemas.microsoft.com/office/powerpoint/2010/main" val="23944640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2601791323"/>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1">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spTree>
  </p:cSld>
  <p:clrMap bg1="lt1" tx1="dk1" bg2="lt2" tx2="dk2" accent1="accent1" accent2="accent2" accent3="accent3" accent4="accent4" accent5="accent5" accent6="accent6" hlink="hlink" folHlink="folHlink"/>
  <p:sldLayoutIdLst>
    <p:sldLayoutId id="2147483722" r:id="rId1"/>
    <p:sldLayoutId id="2147483721" r:id="rId2"/>
    <p:sldLayoutId id="2147483723" r:id="rId3"/>
    <p:sldLayoutId id="2147483652" r:id="rId4"/>
    <p:sldLayoutId id="2147483650" r:id="rId5"/>
    <p:sldLayoutId id="2147483677" r:id="rId6"/>
    <p:sldLayoutId id="2147483691" r:id="rId7"/>
    <p:sldLayoutId id="2147483724" r:id="rId8"/>
    <p:sldLayoutId id="2147483699" r:id="rId9"/>
    <p:sldLayoutId id="2147483725" r:id="rId10"/>
    <p:sldLayoutId id="2147483717" r:id="rId11"/>
    <p:sldLayoutId id="2147483726" r:id="rId12"/>
    <p:sldLayoutId id="2147483653" r:id="rId13"/>
    <p:sldLayoutId id="2147483727" r:id="rId14"/>
    <p:sldLayoutId id="2147483706" r:id="rId15"/>
    <p:sldLayoutId id="2147483728" r:id="rId16"/>
    <p:sldLayoutId id="2147483708" r:id="rId17"/>
    <p:sldLayoutId id="2147483739" r:id="rId18"/>
    <p:sldLayoutId id="2147483729" r:id="rId19"/>
    <p:sldLayoutId id="2147483700" r:id="rId20"/>
    <p:sldLayoutId id="2147483730" r:id="rId21"/>
    <p:sldLayoutId id="2147483707" r:id="rId22"/>
    <p:sldLayoutId id="2147483731" r:id="rId23"/>
    <p:sldLayoutId id="2147483712" r:id="rId24"/>
    <p:sldLayoutId id="2147483732" r:id="rId25"/>
    <p:sldLayoutId id="2147483713" r:id="rId26"/>
    <p:sldLayoutId id="2147483733" r:id="rId27"/>
    <p:sldLayoutId id="2147483715" r:id="rId28"/>
    <p:sldLayoutId id="2147483734" r:id="rId29"/>
    <p:sldLayoutId id="2147483701" r:id="rId30"/>
    <p:sldLayoutId id="2147483735" r:id="rId31"/>
    <p:sldLayoutId id="2147483710" r:id="rId32"/>
    <p:sldLayoutId id="2147483736" r:id="rId33"/>
    <p:sldLayoutId id="2147483737" r:id="rId34"/>
    <p:sldLayoutId id="2147483711" r:id="rId35"/>
    <p:sldLayoutId id="2147483686" r:id="rId36"/>
    <p:sldLayoutId id="2147483718" r:id="rId37"/>
    <p:sldLayoutId id="2147483694" r:id="rId38"/>
    <p:sldLayoutId id="2147483688" r:id="rId39"/>
    <p:sldLayoutId id="2147483719" r:id="rId40"/>
    <p:sldLayoutId id="2147483687" r:id="rId41"/>
    <p:sldLayoutId id="2147483655" r:id="rId42"/>
    <p:sldLayoutId id="2147483702" r:id="rId43"/>
    <p:sldLayoutId id="2147483703" r:id="rId44"/>
    <p:sldLayoutId id="2147483704" r:id="rId45"/>
    <p:sldLayoutId id="2147483705" r:id="rId46"/>
    <p:sldLayoutId id="2147483716" r:id="rId47"/>
    <p:sldLayoutId id="2147483720" r:id="rId48"/>
    <p:sldLayoutId id="2147483738" r:id="rId49"/>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just"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just" rtl="0" eaLnBrk="0" fontAlgn="base" hangingPunct="0">
        <a:spcBef>
          <a:spcPct val="20000"/>
        </a:spcBef>
        <a:spcAft>
          <a:spcPct val="0"/>
        </a:spcAft>
        <a:buFont typeface="Arial" panose="020B0604020202020204" pitchFamily="34" charset="0"/>
        <a:buChar char="+"/>
        <a:defRPr sz="2800">
          <a:solidFill>
            <a:srgbClr val="FF0000"/>
          </a:solidFill>
          <a:latin typeface="+mn-lt"/>
        </a:defRPr>
      </a:lvl2pPr>
      <a:lvl3pPr marL="1143000" indent="-228600" algn="just"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stopwords/vietnamese-stopwords" TargetMode="Externa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hyperlink" Target="https://github.com/leducthanh041/DS102-DoAn" TargetMode="Externa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0F75B3-6F3A-DA90-1BD2-5080CF474216}"/>
              </a:ext>
            </a:extLst>
          </p:cNvPr>
          <p:cNvSpPr>
            <a:spLocks noGrp="1"/>
          </p:cNvSpPr>
          <p:nvPr>
            <p:ph type="ctrTitle"/>
          </p:nvPr>
        </p:nvSpPr>
        <p:spPr/>
        <p:txBody>
          <a:bodyPr/>
          <a:lstStyle/>
          <a:p>
            <a:r>
              <a:rPr lang="en-US" noProof="1"/>
              <a:t>Xây Dựng Dữ Liệu Và Mô Hình Phân Loại Đánh Giá Sự Tích Cực/Tiêu Cực Của Các Tin Báo Trên Các Trang Mạng</a:t>
            </a:r>
          </a:p>
        </p:txBody>
      </p:sp>
      <p:sp>
        <p:nvSpPr>
          <p:cNvPr id="5" name="Subtitle 4">
            <a:extLst>
              <a:ext uri="{FF2B5EF4-FFF2-40B4-BE49-F238E27FC236}">
                <a16:creationId xmlns:a16="http://schemas.microsoft.com/office/drawing/2014/main" id="{3CEF2D3F-9DF7-4E24-9981-359DB558E96B}"/>
              </a:ext>
            </a:extLst>
          </p:cNvPr>
          <p:cNvSpPr>
            <a:spLocks noGrp="1"/>
          </p:cNvSpPr>
          <p:nvPr>
            <p:ph type="subTitle" idx="1"/>
          </p:nvPr>
        </p:nvSpPr>
        <p:spPr/>
        <p:txBody>
          <a:bodyPr/>
          <a:lstStyle/>
          <a:p>
            <a:r>
              <a:rPr lang="en-US" sz="2400" noProof="1"/>
              <a:t>Lê Đức Thành – 23521441</a:t>
            </a:r>
          </a:p>
          <a:p>
            <a:r>
              <a:rPr lang="en-US" sz="2400" noProof="1">
                <a:solidFill>
                  <a:srgbClr val="FF0000"/>
                </a:solidFill>
              </a:rPr>
              <a:t>Huỳnh Nhật Thanh – 23521440</a:t>
            </a:r>
          </a:p>
          <a:p>
            <a:r>
              <a:rPr lang="en-US" sz="2400" noProof="1"/>
              <a:t>Bùi Thị Thanh Trang – 23521625</a:t>
            </a:r>
          </a:p>
          <a:p>
            <a:r>
              <a:rPr lang="en-US" sz="2400" noProof="1">
                <a:solidFill>
                  <a:srgbClr val="FF0000"/>
                </a:solidFill>
              </a:rPr>
              <a:t>Đinh Trần Duy Trường – 23521688</a:t>
            </a:r>
          </a:p>
          <a:p>
            <a:r>
              <a:rPr lang="en-US" sz="2400" noProof="1"/>
              <a:t>ThS. Huỳnh Văn Tín</a:t>
            </a:r>
          </a:p>
        </p:txBody>
      </p:sp>
    </p:spTree>
    <p:extLst>
      <p:ext uri="{BB962C8B-B14F-4D97-AF65-F5344CB8AC3E}">
        <p14:creationId xmlns:p14="http://schemas.microsoft.com/office/powerpoint/2010/main" val="68929231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DFE9-ADE6-908E-2225-06A3438671A4}"/>
              </a:ext>
            </a:extLst>
          </p:cNvPr>
          <p:cNvSpPr>
            <a:spLocks noGrp="1"/>
          </p:cNvSpPr>
          <p:nvPr>
            <p:ph type="title"/>
          </p:nvPr>
        </p:nvSpPr>
        <p:spPr/>
        <p:txBody>
          <a:bodyPr/>
          <a:lstStyle/>
          <a:p>
            <a:r>
              <a:rPr lang="en-US" noProof="1"/>
              <a:t>Động lực thực hiện</a:t>
            </a:r>
          </a:p>
        </p:txBody>
      </p:sp>
      <p:sp>
        <p:nvSpPr>
          <p:cNvPr id="3" name="Text Placeholder 2">
            <a:extLst>
              <a:ext uri="{FF2B5EF4-FFF2-40B4-BE49-F238E27FC236}">
                <a16:creationId xmlns:a16="http://schemas.microsoft.com/office/drawing/2014/main" id="{92AC5C7B-D83C-2894-3FD2-2C9EF621A1D8}"/>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196214046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90776-0734-FB35-C512-592D5EDCA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7405C-8762-96F3-F044-A21D292A9A16}"/>
              </a:ext>
            </a:extLst>
          </p:cNvPr>
          <p:cNvSpPr>
            <a:spLocks noGrp="1"/>
          </p:cNvSpPr>
          <p:nvPr>
            <p:ph type="title"/>
          </p:nvPr>
        </p:nvSpPr>
        <p:spPr/>
        <p:txBody>
          <a:bodyPr/>
          <a:lstStyle/>
          <a:p>
            <a:r>
              <a:rPr lang="en-US" sz="4000" noProof="1"/>
              <a:t>Động lực thực hiện</a:t>
            </a:r>
          </a:p>
        </p:txBody>
      </p:sp>
      <p:sp>
        <p:nvSpPr>
          <p:cNvPr id="4" name="Content Placeholder 3">
            <a:extLst>
              <a:ext uri="{FF2B5EF4-FFF2-40B4-BE49-F238E27FC236}">
                <a16:creationId xmlns:a16="http://schemas.microsoft.com/office/drawing/2014/main" id="{C2123F8F-68C9-8FF9-E8EB-54B70DACCF73}"/>
              </a:ext>
            </a:extLst>
          </p:cNvPr>
          <p:cNvSpPr>
            <a:spLocks noGrp="1"/>
          </p:cNvSpPr>
          <p:nvPr>
            <p:ph idx="1"/>
          </p:nvPr>
        </p:nvSpPr>
        <p:spPr/>
        <p:txBody>
          <a:bodyPr/>
          <a:lstStyle/>
          <a:p>
            <a:r>
              <a:rPr lang="vi-VN" noProof="1"/>
              <a:t>Tin tức tăng quá nhanh → đọc không kịp: mỗi ngày hàng loạt bài mới, khó nắm “bức tranh cảm xúc” nếu chỉ đọc thủ công.</a:t>
            </a:r>
          </a:p>
          <a:p>
            <a:r>
              <a:rPr lang="vi-VN" noProof="1">
                <a:solidFill>
                  <a:srgbClr val="FF0000"/>
                </a:solidFill>
              </a:rPr>
              <a:t>Điều cần là xu hướng, không phải từng bài: cần biết theo chủ đề/nguồn/thời gian đang nghiêng tích cực – tiêu cực – trung tính để ra quyết định nhanh.</a:t>
            </a:r>
          </a:p>
          <a:p>
            <a:r>
              <a:rPr lang="vi-VN" noProof="1"/>
              <a:t>Tin tiêu cực lan nhanh và gây hệ quả: nếu không phát hiện sớm, dễ bỏ lỡ cảnh báo rủi ro (khủng hoảng truyền thông, suy giảm niềm tin, hoang mang xã hội).</a:t>
            </a:r>
          </a:p>
        </p:txBody>
      </p:sp>
    </p:spTree>
    <p:extLst>
      <p:ext uri="{BB962C8B-B14F-4D97-AF65-F5344CB8AC3E}">
        <p14:creationId xmlns:p14="http://schemas.microsoft.com/office/powerpoint/2010/main" val="249280516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F1CD1-E6A5-F7B6-C072-BCD0391C1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F7929-27CA-ABFE-3EE5-15C41BCA29C8}"/>
              </a:ext>
            </a:extLst>
          </p:cNvPr>
          <p:cNvSpPr>
            <a:spLocks noGrp="1"/>
          </p:cNvSpPr>
          <p:nvPr>
            <p:ph type="title"/>
          </p:nvPr>
        </p:nvSpPr>
        <p:spPr/>
        <p:txBody>
          <a:bodyPr/>
          <a:lstStyle/>
          <a:p>
            <a:r>
              <a:rPr lang="en-US" sz="4000" noProof="1"/>
              <a:t>Động lực thực hiện</a:t>
            </a:r>
          </a:p>
        </p:txBody>
      </p:sp>
      <p:sp>
        <p:nvSpPr>
          <p:cNvPr id="4" name="Content Placeholder 3">
            <a:extLst>
              <a:ext uri="{FF2B5EF4-FFF2-40B4-BE49-F238E27FC236}">
                <a16:creationId xmlns:a16="http://schemas.microsoft.com/office/drawing/2014/main" id="{D64AC221-D737-ED88-2032-590F3D86FD9B}"/>
              </a:ext>
            </a:extLst>
          </p:cNvPr>
          <p:cNvSpPr>
            <a:spLocks noGrp="1"/>
          </p:cNvSpPr>
          <p:nvPr>
            <p:ph idx="1"/>
          </p:nvPr>
        </p:nvSpPr>
        <p:spPr/>
        <p:txBody>
          <a:bodyPr/>
          <a:lstStyle/>
          <a:p>
            <a:r>
              <a:rPr lang="vi-VN" noProof="1"/>
              <a:t>Đánh giá thủ công thiếu ổn định: tốn thời gian, lệ thuộc người đọc, khó mở rộng khi dữ liệu lớn.</a:t>
            </a:r>
          </a:p>
          <a:p>
            <a:r>
              <a:rPr lang="vi-VN" noProof="1">
                <a:solidFill>
                  <a:srgbClr val="FF0000"/>
                </a:solidFill>
              </a:rPr>
              <a:t>Giải pháp hợp lý: xây dataset chuẩn + mô hình phân loại để tự động hóa, theo dõi liên tục, cập nhật theo thời gian thực.</a:t>
            </a:r>
            <a:endParaRPr lang="en-US" noProof="1">
              <a:solidFill>
                <a:srgbClr val="FF0000"/>
              </a:solidFill>
            </a:endParaRPr>
          </a:p>
        </p:txBody>
      </p:sp>
    </p:spTree>
    <p:extLst>
      <p:ext uri="{BB962C8B-B14F-4D97-AF65-F5344CB8AC3E}">
        <p14:creationId xmlns:p14="http://schemas.microsoft.com/office/powerpoint/2010/main" val="112600252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B6E17-857A-F13E-A4D5-4F2848D8F6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8DAC6-D4CE-B5F4-4189-3EF954E9A023}"/>
              </a:ext>
            </a:extLst>
          </p:cNvPr>
          <p:cNvSpPr>
            <a:spLocks noGrp="1"/>
          </p:cNvSpPr>
          <p:nvPr>
            <p:ph type="title"/>
          </p:nvPr>
        </p:nvSpPr>
        <p:spPr/>
        <p:txBody>
          <a:bodyPr/>
          <a:lstStyle/>
          <a:p>
            <a:r>
              <a:rPr lang="en-US" noProof="1"/>
              <a:t>Định nghĩa bài toán</a:t>
            </a:r>
          </a:p>
        </p:txBody>
      </p:sp>
      <p:sp>
        <p:nvSpPr>
          <p:cNvPr id="3" name="Text Placeholder 2">
            <a:extLst>
              <a:ext uri="{FF2B5EF4-FFF2-40B4-BE49-F238E27FC236}">
                <a16:creationId xmlns:a16="http://schemas.microsoft.com/office/drawing/2014/main" id="{5CCE86A4-B253-9341-CC93-CD88EA559C30}"/>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6291305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C4BA7-5004-175F-169A-45611DBDA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DB84E-523A-6B40-0C8A-B5E49159C0BA}"/>
              </a:ext>
            </a:extLst>
          </p:cNvPr>
          <p:cNvSpPr>
            <a:spLocks noGrp="1"/>
          </p:cNvSpPr>
          <p:nvPr>
            <p:ph type="title"/>
          </p:nvPr>
        </p:nvSpPr>
        <p:spPr/>
        <p:txBody>
          <a:bodyPr/>
          <a:lstStyle/>
          <a:p>
            <a:r>
              <a:rPr lang="en-US" sz="4000" noProof="1"/>
              <a:t>Định nghĩa bài toán</a:t>
            </a:r>
          </a:p>
        </p:txBody>
      </p:sp>
      <p:sp>
        <p:nvSpPr>
          <p:cNvPr id="4" name="Content Placeholder 3">
            <a:extLst>
              <a:ext uri="{FF2B5EF4-FFF2-40B4-BE49-F238E27FC236}">
                <a16:creationId xmlns:a16="http://schemas.microsoft.com/office/drawing/2014/main" id="{97585C3D-F74B-66CC-CA6D-0D1DDA6D638D}"/>
              </a:ext>
            </a:extLst>
          </p:cNvPr>
          <p:cNvSpPr>
            <a:spLocks noGrp="1"/>
          </p:cNvSpPr>
          <p:nvPr>
            <p:ph idx="1"/>
          </p:nvPr>
        </p:nvSpPr>
        <p:spPr/>
        <p:txBody>
          <a:bodyPr/>
          <a:lstStyle/>
          <a:p>
            <a:r>
              <a:rPr lang="vi-VN" b="1" noProof="1"/>
              <a:t>Mục tiêu: </a:t>
            </a:r>
            <a:r>
              <a:rPr lang="vi-VN" noProof="1"/>
              <a:t>xây dựng dữ liệu gán nhãn và mô hình phân loại sắc thái tin báo tiếng Việt.</a:t>
            </a:r>
          </a:p>
          <a:p>
            <a:r>
              <a:rPr lang="vi-VN" b="1" noProof="1">
                <a:solidFill>
                  <a:srgbClr val="FF0000"/>
                </a:solidFill>
              </a:rPr>
              <a:t>Bài toán: </a:t>
            </a:r>
            <a:r>
              <a:rPr lang="vi-VN" noProof="1">
                <a:solidFill>
                  <a:srgbClr val="FF0000"/>
                </a:solidFill>
              </a:rPr>
              <a:t>phân loại văn bản tin tức (sentiment classification) ở mức bài báo.</a:t>
            </a:r>
          </a:p>
          <a:p>
            <a:endParaRPr lang="en-US" noProof="1"/>
          </a:p>
        </p:txBody>
      </p:sp>
      <p:pic>
        <p:nvPicPr>
          <p:cNvPr id="9" name="Content Placeholder 8" descr="A diagram of a box&#10;&#10;AI-generated content may be incorrect.">
            <a:extLst>
              <a:ext uri="{FF2B5EF4-FFF2-40B4-BE49-F238E27FC236}">
                <a16:creationId xmlns:a16="http://schemas.microsoft.com/office/drawing/2014/main" id="{18C324AD-2CFF-C96F-5C4E-66B101E257D7}"/>
              </a:ext>
            </a:extLst>
          </p:cNvPr>
          <p:cNvPicPr>
            <a:picLocks noGrp="1" noChangeAspect="1"/>
          </p:cNvPicPr>
          <p:nvPr>
            <p:ph idx="16"/>
          </p:nvPr>
        </p:nvPicPr>
        <p:blipFill>
          <a:blip r:embed="rId2">
            <a:extLst>
              <a:ext uri="{28A0092B-C50C-407E-A947-70E740481C1C}">
                <a14:useLocalDpi xmlns:a14="http://schemas.microsoft.com/office/drawing/2010/main" val="0"/>
              </a:ext>
            </a:extLst>
          </a:blip>
          <a:stretch>
            <a:fillRect/>
          </a:stretch>
        </p:blipFill>
        <p:spPr>
          <a:xfrm>
            <a:off x="2705389" y="3921125"/>
            <a:ext cx="6781222" cy="2193925"/>
          </a:xfrm>
        </p:spPr>
      </p:pic>
    </p:spTree>
    <p:extLst>
      <p:ext uri="{BB962C8B-B14F-4D97-AF65-F5344CB8AC3E}">
        <p14:creationId xmlns:p14="http://schemas.microsoft.com/office/powerpoint/2010/main" val="371659863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7E5C3-E3E4-7D85-C367-34E6F6E30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5D428-D85E-0559-7246-A070DC8C57F9}"/>
              </a:ext>
            </a:extLst>
          </p:cNvPr>
          <p:cNvSpPr>
            <a:spLocks noGrp="1"/>
          </p:cNvSpPr>
          <p:nvPr>
            <p:ph type="title"/>
          </p:nvPr>
        </p:nvSpPr>
        <p:spPr/>
        <p:txBody>
          <a:bodyPr/>
          <a:lstStyle/>
          <a:p>
            <a:r>
              <a:rPr lang="en-US" sz="4000" noProof="1"/>
              <a:t>Định nghĩa bài toán</a:t>
            </a:r>
          </a:p>
        </p:txBody>
      </p:sp>
      <p:sp>
        <p:nvSpPr>
          <p:cNvPr id="4" name="Content Placeholder 3">
            <a:extLst>
              <a:ext uri="{FF2B5EF4-FFF2-40B4-BE49-F238E27FC236}">
                <a16:creationId xmlns:a16="http://schemas.microsoft.com/office/drawing/2014/main" id="{7CC2EC49-0372-A594-A46D-F526DBB59147}"/>
              </a:ext>
            </a:extLst>
          </p:cNvPr>
          <p:cNvSpPr>
            <a:spLocks noGrp="1"/>
          </p:cNvSpPr>
          <p:nvPr>
            <p:ph idx="1"/>
          </p:nvPr>
        </p:nvSpPr>
        <p:spPr/>
        <p:txBody>
          <a:bodyPr/>
          <a:lstStyle/>
          <a:p>
            <a:r>
              <a:rPr lang="vi-VN" b="1" noProof="1"/>
              <a:t>Input:</a:t>
            </a:r>
            <a:r>
              <a:rPr lang="vi-VN" noProof="1"/>
              <a:t> nội dung bài báo (tiêu đề + nội dung</a:t>
            </a:r>
            <a:r>
              <a:rPr lang="en-US" noProof="1"/>
              <a:t> ngắn</a:t>
            </a:r>
            <a:r>
              <a:rPr lang="vi-VN" noProof="1"/>
              <a:t>).</a:t>
            </a:r>
          </a:p>
          <a:p>
            <a:r>
              <a:rPr lang="vi-VN" b="1" noProof="1">
                <a:solidFill>
                  <a:srgbClr val="FF0000"/>
                </a:solidFill>
              </a:rPr>
              <a:t>Output (3 nhãn):</a:t>
            </a:r>
          </a:p>
          <a:p>
            <a:pPr lvl="1"/>
            <a:r>
              <a:rPr lang="vi-VN" noProof="1"/>
              <a:t>Positive</a:t>
            </a:r>
          </a:p>
          <a:p>
            <a:pPr lvl="1"/>
            <a:r>
              <a:rPr lang="vi-VN" noProof="1">
                <a:solidFill>
                  <a:srgbClr val="FF0000"/>
                </a:solidFill>
              </a:rPr>
              <a:t>Negative</a:t>
            </a:r>
          </a:p>
          <a:p>
            <a:pPr lvl="1"/>
            <a:r>
              <a:rPr lang="vi-VN" noProof="1"/>
              <a:t>Neutral</a:t>
            </a:r>
          </a:p>
          <a:p>
            <a:r>
              <a:rPr lang="vi-VN" b="1" noProof="1">
                <a:solidFill>
                  <a:srgbClr val="FF0000"/>
                </a:solidFill>
              </a:rPr>
              <a:t>Kết quả kỳ vọng: </a:t>
            </a:r>
            <a:r>
              <a:rPr lang="vi-VN" noProof="1">
                <a:solidFill>
                  <a:srgbClr val="FF0000"/>
                </a:solidFill>
              </a:rPr>
              <a:t>gán nhãn tự động cho tin mới + tổng hợp xu hướng sắc thái theo chủ đề/nguồn/thời gian.</a:t>
            </a:r>
            <a:endParaRPr lang="en-US" noProof="1">
              <a:solidFill>
                <a:srgbClr val="FF0000"/>
              </a:solidFill>
            </a:endParaRPr>
          </a:p>
        </p:txBody>
      </p:sp>
    </p:spTree>
    <p:extLst>
      <p:ext uri="{BB962C8B-B14F-4D97-AF65-F5344CB8AC3E}">
        <p14:creationId xmlns:p14="http://schemas.microsoft.com/office/powerpoint/2010/main" val="13277252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E12F-E503-7BF1-8B03-397A0CD42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F30A4-F767-E251-7BC2-3CBB8BA129B2}"/>
              </a:ext>
            </a:extLst>
          </p:cNvPr>
          <p:cNvSpPr>
            <a:spLocks noGrp="1"/>
          </p:cNvSpPr>
          <p:nvPr>
            <p:ph type="title"/>
          </p:nvPr>
        </p:nvSpPr>
        <p:spPr/>
        <p:txBody>
          <a:bodyPr/>
          <a:lstStyle/>
          <a:p>
            <a:r>
              <a:rPr lang="en-US" noProof="1"/>
              <a:t>Trích xuất dữ liệu</a:t>
            </a:r>
          </a:p>
        </p:txBody>
      </p:sp>
      <p:sp>
        <p:nvSpPr>
          <p:cNvPr id="3" name="Text Placeholder 2">
            <a:extLst>
              <a:ext uri="{FF2B5EF4-FFF2-40B4-BE49-F238E27FC236}">
                <a16:creationId xmlns:a16="http://schemas.microsoft.com/office/drawing/2014/main" id="{2ACC18A9-E3FC-6205-F7BC-CAFDB09E5094}"/>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178884130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2CFD-2517-D9D9-6680-F7FAA75E4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80725-4759-7D35-4EC3-506E3F29E4AE}"/>
              </a:ext>
            </a:extLst>
          </p:cNvPr>
          <p:cNvSpPr>
            <a:spLocks noGrp="1"/>
          </p:cNvSpPr>
          <p:nvPr>
            <p:ph type="title"/>
          </p:nvPr>
        </p:nvSpPr>
        <p:spPr/>
        <p:txBody>
          <a:bodyPr/>
          <a:lstStyle/>
          <a:p>
            <a:r>
              <a:rPr lang="en-US" noProof="1"/>
              <a:t>Trích xuất dữ liệu</a:t>
            </a:r>
          </a:p>
        </p:txBody>
      </p:sp>
      <p:sp>
        <p:nvSpPr>
          <p:cNvPr id="4" name="Content Placeholder 3">
            <a:extLst>
              <a:ext uri="{FF2B5EF4-FFF2-40B4-BE49-F238E27FC236}">
                <a16:creationId xmlns:a16="http://schemas.microsoft.com/office/drawing/2014/main" id="{98FCC5F4-4D3E-3459-AC7F-ECAD5D52C4E1}"/>
              </a:ext>
            </a:extLst>
          </p:cNvPr>
          <p:cNvSpPr>
            <a:spLocks noGrp="1"/>
          </p:cNvSpPr>
          <p:nvPr>
            <p:ph idx="1"/>
          </p:nvPr>
        </p:nvSpPr>
        <p:spPr/>
        <p:txBody>
          <a:bodyPr/>
          <a:lstStyle/>
          <a:p>
            <a:r>
              <a:rPr lang="en-US" noProof="1"/>
              <a:t>Nguồn dữ liệu: vietnamnet.vn</a:t>
            </a:r>
          </a:p>
          <a:p>
            <a:r>
              <a:rPr lang="en-US" noProof="1">
                <a:solidFill>
                  <a:srgbClr val="FF0000"/>
                </a:solidFill>
              </a:rPr>
              <a:t>Phạm vi chủ đề: </a:t>
            </a:r>
          </a:p>
          <a:p>
            <a:pPr lvl="1"/>
            <a:r>
              <a:rPr lang="en-US" noProof="1"/>
              <a:t>Chính trị</a:t>
            </a:r>
          </a:p>
          <a:p>
            <a:pPr lvl="1"/>
            <a:r>
              <a:rPr lang="en-US" noProof="1">
                <a:solidFill>
                  <a:srgbClr val="FF0000"/>
                </a:solidFill>
              </a:rPr>
              <a:t>Quân sự</a:t>
            </a:r>
          </a:p>
          <a:p>
            <a:pPr lvl="1"/>
            <a:r>
              <a:rPr lang="en-US" noProof="1"/>
              <a:t>Showbiz</a:t>
            </a:r>
          </a:p>
          <a:p>
            <a:pPr lvl="1"/>
            <a:r>
              <a:rPr lang="en-US" noProof="1">
                <a:solidFill>
                  <a:srgbClr val="FF0000"/>
                </a:solidFill>
              </a:rPr>
              <a:t>Đời sống</a:t>
            </a:r>
          </a:p>
          <a:p>
            <a:pPr lvl="1"/>
            <a:r>
              <a:rPr lang="en-US" noProof="1"/>
              <a:t>Bất động sản</a:t>
            </a:r>
          </a:p>
          <a:p>
            <a:pPr lvl="1"/>
            <a:r>
              <a:rPr lang="en-US" noProof="1">
                <a:solidFill>
                  <a:srgbClr val="FF0000"/>
                </a:solidFill>
              </a:rPr>
              <a:t>Thị trường </a:t>
            </a:r>
          </a:p>
          <a:p>
            <a:pPr lvl="1"/>
            <a:r>
              <a:rPr lang="en-US" noProof="1"/>
              <a:t>… </a:t>
            </a:r>
          </a:p>
        </p:txBody>
      </p:sp>
    </p:spTree>
    <p:extLst>
      <p:ext uri="{BB962C8B-B14F-4D97-AF65-F5344CB8AC3E}">
        <p14:creationId xmlns:p14="http://schemas.microsoft.com/office/powerpoint/2010/main" val="132759245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9E67-E62F-5BB4-EDEA-A6FC739B4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41A66-BD64-CD40-BF77-3FAFD8FC4DBB}"/>
              </a:ext>
            </a:extLst>
          </p:cNvPr>
          <p:cNvSpPr>
            <a:spLocks noGrp="1"/>
          </p:cNvSpPr>
          <p:nvPr>
            <p:ph type="title"/>
          </p:nvPr>
        </p:nvSpPr>
        <p:spPr/>
        <p:txBody>
          <a:bodyPr/>
          <a:lstStyle/>
          <a:p>
            <a:r>
              <a:rPr lang="en-US" noProof="1"/>
              <a:t>Quy trình trích xuất</a:t>
            </a:r>
          </a:p>
        </p:txBody>
      </p:sp>
      <p:sp>
        <p:nvSpPr>
          <p:cNvPr id="4" name="Content Placeholder 3">
            <a:extLst>
              <a:ext uri="{FF2B5EF4-FFF2-40B4-BE49-F238E27FC236}">
                <a16:creationId xmlns:a16="http://schemas.microsoft.com/office/drawing/2014/main" id="{4DEA9EF6-1F83-264B-25CA-380ECEF2D75E}"/>
              </a:ext>
            </a:extLst>
          </p:cNvPr>
          <p:cNvSpPr>
            <a:spLocks noGrp="1"/>
          </p:cNvSpPr>
          <p:nvPr>
            <p:ph idx="1"/>
          </p:nvPr>
        </p:nvSpPr>
        <p:spPr/>
        <p:txBody>
          <a:bodyPr/>
          <a:lstStyle/>
          <a:p>
            <a:r>
              <a:rPr lang="en-US" noProof="1"/>
              <a:t>Phương pháp: Crawl dữ liệu tự động.</a:t>
            </a:r>
          </a:p>
          <a:p>
            <a:r>
              <a:rPr lang="en-US" noProof="1">
                <a:solidFill>
                  <a:srgbClr val="FF0000"/>
                </a:solidFill>
              </a:rPr>
              <a:t>Cấu trúc mẫu (Sample Structure): Mỗi mẫu dữ liệu được cấu trúc gồm: [Tiêu đề bài báo] + [Câu đầu tiên của bài báo].</a:t>
            </a:r>
          </a:p>
          <a:p>
            <a:r>
              <a:rPr lang="en-US" noProof="1"/>
              <a:t>Lý do chọn cấu trúc này: Đây thường là phần tóm tắt nội dung chính (Sapo), chứa đựng cảm xúc chủ đạo hoặc thông điệp cốt lõi của bài viết, giúp giảm nhiễu so với việc lấy toàn bộ bài báo dài.</a:t>
            </a:r>
          </a:p>
        </p:txBody>
      </p:sp>
    </p:spTree>
    <p:extLst>
      <p:ext uri="{BB962C8B-B14F-4D97-AF65-F5344CB8AC3E}">
        <p14:creationId xmlns:p14="http://schemas.microsoft.com/office/powerpoint/2010/main" val="388741285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7A57-1735-6779-6219-170C7DD47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A8794-2492-4712-696A-A83C42DA0CAC}"/>
              </a:ext>
            </a:extLst>
          </p:cNvPr>
          <p:cNvSpPr>
            <a:spLocks noGrp="1"/>
          </p:cNvSpPr>
          <p:nvPr>
            <p:ph type="title"/>
          </p:nvPr>
        </p:nvSpPr>
        <p:spPr/>
        <p:txBody>
          <a:bodyPr/>
          <a:lstStyle/>
          <a:p>
            <a:r>
              <a:rPr lang="en-US" noProof="1"/>
              <a:t>Xây dựng Guildline</a:t>
            </a:r>
          </a:p>
        </p:txBody>
      </p:sp>
      <p:sp>
        <p:nvSpPr>
          <p:cNvPr id="3" name="Text Placeholder 2">
            <a:extLst>
              <a:ext uri="{FF2B5EF4-FFF2-40B4-BE49-F238E27FC236}">
                <a16:creationId xmlns:a16="http://schemas.microsoft.com/office/drawing/2014/main" id="{58EAED10-4D06-FCAB-E2A6-347E47EA2088}"/>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237462913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5B2B-3CE6-3BEC-5A25-703BD6509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9B963-6790-7F49-AEDE-F8D82A53C40D}"/>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C396D36F-40DC-8AAD-3EB8-CB8EE8D4B759}"/>
              </a:ext>
            </a:extLst>
          </p:cNvPr>
          <p:cNvSpPr>
            <a:spLocks noGrp="1"/>
          </p:cNvSpPr>
          <p:nvPr>
            <p:ph idx="1"/>
          </p:nvPr>
        </p:nvSpPr>
        <p:spPr/>
        <p:txBody>
          <a:bodyPr/>
          <a:lstStyle/>
          <a:p>
            <a:r>
              <a:rPr lang="en-US" b="1" noProof="1"/>
              <a:t>Định nghĩa nhãn Positive</a:t>
            </a:r>
            <a:r>
              <a:rPr lang="en-US" noProof="1"/>
              <a:t>: Bài báo thể hiện sắc thái lạc quan, vui mừng, tự hào hoặc khích lệ, tập trung vào thành công, cải thiện, tiến bộ, cơ hội, hoặc kết quả tốt. Giọng văn thể hiện niềm tin, sự phấn khởi, cảm xúc tích cực, hoặc hướng tới tương lai tươi sáng.</a:t>
            </a:r>
          </a:p>
          <a:p>
            <a:endParaRPr lang="en-US" noProof="1"/>
          </a:p>
        </p:txBody>
      </p:sp>
    </p:spTree>
    <p:extLst>
      <p:ext uri="{BB962C8B-B14F-4D97-AF65-F5344CB8AC3E}">
        <p14:creationId xmlns:p14="http://schemas.microsoft.com/office/powerpoint/2010/main" val="13180362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28F0-E021-7232-B064-9B89B7D89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93FEA-A068-3B4C-1D93-67E137607D96}"/>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FF9FF5BC-BDFD-8994-B686-E5458261E9BB}"/>
              </a:ext>
            </a:extLst>
          </p:cNvPr>
          <p:cNvSpPr>
            <a:spLocks noGrp="1"/>
          </p:cNvSpPr>
          <p:nvPr>
            <p:ph idx="1"/>
          </p:nvPr>
        </p:nvSpPr>
        <p:spPr/>
        <p:txBody>
          <a:bodyPr/>
          <a:lstStyle/>
          <a:p>
            <a:r>
              <a:rPr lang="en-US" b="1" noProof="1"/>
              <a:t>Một số nhóm cụ thể nhãn Positive</a:t>
            </a:r>
            <a:r>
              <a:rPr lang="en-US" noProof="1"/>
              <a:t>:</a:t>
            </a:r>
          </a:p>
          <a:p>
            <a:pPr lvl="1"/>
            <a:r>
              <a:rPr lang="en-US" noProof="1">
                <a:solidFill>
                  <a:srgbClr val="FF0000"/>
                </a:solidFill>
              </a:rPr>
              <a:t>Thành tựu / Kết quả vượt trội</a:t>
            </a:r>
          </a:p>
          <a:p>
            <a:pPr lvl="1"/>
            <a:r>
              <a:rPr lang="en-US" noProof="1"/>
              <a:t>Nhóm Phát triển – Tăng trưởng – Mở rộng</a:t>
            </a:r>
          </a:p>
          <a:p>
            <a:pPr lvl="1"/>
            <a:r>
              <a:rPr lang="en-US" noProof="1">
                <a:solidFill>
                  <a:srgbClr val="FF0000"/>
                </a:solidFill>
              </a:rPr>
              <a:t>Nhóm Tinh thần tích cực – Truyền cảm hứng – Vượt khó</a:t>
            </a:r>
          </a:p>
          <a:p>
            <a:pPr lvl="1"/>
            <a:r>
              <a:rPr lang="en-US" noProof="1"/>
              <a:t>Nhóm Nhân văn – Tình cảm ấm áp</a:t>
            </a:r>
          </a:p>
          <a:p>
            <a:pPr lvl="1"/>
            <a:r>
              <a:rPr lang="en-US" noProof="1">
                <a:solidFill>
                  <a:srgbClr val="FF0000"/>
                </a:solidFill>
              </a:rPr>
              <a:t>Nhóm Thể thao với kết quả tốt</a:t>
            </a:r>
          </a:p>
          <a:p>
            <a:pPr lvl="1"/>
            <a:r>
              <a:rPr lang="en-US" noProof="1"/>
              <a:t>Sáng kiến / Cải thiện xã hội</a:t>
            </a:r>
          </a:p>
          <a:p>
            <a:pPr lvl="1"/>
            <a:r>
              <a:rPr lang="en-US" noProof="1">
                <a:solidFill>
                  <a:srgbClr val="FF0000"/>
                </a:solidFill>
              </a:rPr>
              <a:t>Niềm tin / Hy vọng / Tầm nhìn</a:t>
            </a:r>
          </a:p>
          <a:p>
            <a:endParaRPr lang="en-US" noProof="1"/>
          </a:p>
        </p:txBody>
      </p:sp>
    </p:spTree>
    <p:extLst>
      <p:ext uri="{BB962C8B-B14F-4D97-AF65-F5344CB8AC3E}">
        <p14:creationId xmlns:p14="http://schemas.microsoft.com/office/powerpoint/2010/main" val="16296395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7F2A0-54EF-82BE-DA96-C7C0D7BCA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AAE36-0CE1-9137-E334-0727A3FA2324}"/>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56492A98-49C0-A067-E99D-D1319F3A06E4}"/>
              </a:ext>
            </a:extLst>
          </p:cNvPr>
          <p:cNvSpPr>
            <a:spLocks noGrp="1"/>
          </p:cNvSpPr>
          <p:nvPr>
            <p:ph idx="1"/>
          </p:nvPr>
        </p:nvSpPr>
        <p:spPr>
          <a:xfrm>
            <a:off x="609600" y="1470175"/>
            <a:ext cx="10972800" cy="4525963"/>
          </a:xfrm>
        </p:spPr>
        <p:txBody>
          <a:bodyPr/>
          <a:lstStyle/>
          <a:p>
            <a:r>
              <a:rPr lang="en-US" b="1" noProof="1"/>
              <a:t>Một số ví dụ nhãn Positive</a:t>
            </a:r>
            <a:r>
              <a:rPr lang="en-US" noProof="1"/>
              <a:t>:</a:t>
            </a:r>
          </a:p>
          <a:p>
            <a:pPr lvl="1"/>
            <a:r>
              <a:rPr lang="en-US" noProof="1">
                <a:solidFill>
                  <a:srgbClr val="FF0000"/>
                </a:solidFill>
              </a:rPr>
              <a:t>“TPBank đặt mục tiêu lợi nhuận 9.000 tỷ đồng, chia cổ tức 10% bằng tiền mặt.”</a:t>
            </a:r>
          </a:p>
          <a:p>
            <a:pPr lvl="1"/>
            <a:r>
              <a:rPr lang="en-US" noProof="1"/>
              <a:t>“VitaDairy - Top 1 tăng trưởng nhanh nhất ngành sữa Việt Nam 2025.”</a:t>
            </a:r>
          </a:p>
          <a:p>
            <a:pPr lvl="1"/>
            <a:r>
              <a:rPr lang="en-US" noProof="1">
                <a:solidFill>
                  <a:srgbClr val="FF0000"/>
                </a:solidFill>
              </a:rPr>
              <a:t>“Việt Nam đánh bại Thái Lan để vào chung kết.”</a:t>
            </a:r>
          </a:p>
          <a:p>
            <a:pPr lvl="1"/>
            <a:r>
              <a:rPr lang="en-US" noProof="1"/>
              <a:t>“Ra mắt giải pháp công nghệ hỗ trợ kiến tạo mô hình báo chí bền vững.”</a:t>
            </a:r>
          </a:p>
          <a:p>
            <a:pPr lvl="1"/>
            <a:r>
              <a:rPr lang="en-US" noProof="1">
                <a:solidFill>
                  <a:srgbClr val="FF0000"/>
                </a:solidFill>
              </a:rPr>
              <a:t>“GSETS 2025: Lộ trình phát triển bền vững của Việt Nam trở thành chủ đề ‘nóng’.”</a:t>
            </a:r>
            <a:endParaRPr lang="en-US" noProof="1"/>
          </a:p>
        </p:txBody>
      </p:sp>
    </p:spTree>
    <p:extLst>
      <p:ext uri="{BB962C8B-B14F-4D97-AF65-F5344CB8AC3E}">
        <p14:creationId xmlns:p14="http://schemas.microsoft.com/office/powerpoint/2010/main" val="3368530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D44DF-F98D-D8DE-3DEC-A1D020998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78655A-F0F9-B3F9-1FA7-C79A7B757004}"/>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EF0A1DF6-FCE4-65B9-BF70-F449DF1B5984}"/>
              </a:ext>
            </a:extLst>
          </p:cNvPr>
          <p:cNvSpPr>
            <a:spLocks noGrp="1"/>
          </p:cNvSpPr>
          <p:nvPr>
            <p:ph idx="1"/>
          </p:nvPr>
        </p:nvSpPr>
        <p:spPr/>
        <p:txBody>
          <a:bodyPr/>
          <a:lstStyle/>
          <a:p>
            <a:r>
              <a:rPr lang="en-US" b="1" noProof="1"/>
              <a:t>Định nghĩa nhãn Neutral</a:t>
            </a:r>
            <a:r>
              <a:rPr lang="en-US" noProof="1"/>
              <a:t>: Bài báo chỉ cung cấp thông tin, tường thuật hoặc mô tả khách quan, không thể hiện thái độ khen/chê. Giọng văn trung lập, mang tính thông báo hoặc hành chính, không chứa yếu tố cảm xúc.</a:t>
            </a:r>
          </a:p>
          <a:p>
            <a:endParaRPr lang="en-US" noProof="1"/>
          </a:p>
        </p:txBody>
      </p:sp>
    </p:spTree>
    <p:extLst>
      <p:ext uri="{BB962C8B-B14F-4D97-AF65-F5344CB8AC3E}">
        <p14:creationId xmlns:p14="http://schemas.microsoft.com/office/powerpoint/2010/main" val="152339355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E86C-E87A-07B9-3267-A0E02C739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79128-DB3B-3DFC-7879-8787E7386EFA}"/>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0885C718-8CC7-87F0-0492-9AC9AC403349}"/>
              </a:ext>
            </a:extLst>
          </p:cNvPr>
          <p:cNvSpPr>
            <a:spLocks noGrp="1"/>
          </p:cNvSpPr>
          <p:nvPr>
            <p:ph idx="1"/>
          </p:nvPr>
        </p:nvSpPr>
        <p:spPr/>
        <p:txBody>
          <a:bodyPr/>
          <a:lstStyle/>
          <a:p>
            <a:r>
              <a:rPr lang="en-US" b="1" noProof="1"/>
              <a:t>Một số nhóm cụ thể nhãn Neutral</a:t>
            </a:r>
            <a:r>
              <a:rPr lang="en-US" noProof="1"/>
              <a:t>:</a:t>
            </a:r>
          </a:p>
          <a:p>
            <a:pPr lvl="1"/>
            <a:r>
              <a:rPr lang="en-US" noProof="1">
                <a:solidFill>
                  <a:srgbClr val="FF0000"/>
                </a:solidFill>
              </a:rPr>
              <a:t>Nhóm Tin đa chiều: tích cực + tiêu cực cân bằng (50–50)</a:t>
            </a:r>
          </a:p>
          <a:p>
            <a:pPr lvl="1"/>
            <a:r>
              <a:rPr lang="en-US" noProof="1"/>
              <a:t>Nhóm Phân tích / Giải thích / Hỏi – đáp </a:t>
            </a:r>
          </a:p>
          <a:p>
            <a:pPr lvl="1"/>
            <a:r>
              <a:rPr lang="en-US" noProof="1">
                <a:solidFill>
                  <a:srgbClr val="FF0000"/>
                </a:solidFill>
              </a:rPr>
              <a:t>Recap phim – kể lại tình tiết 1 tập phim</a:t>
            </a:r>
          </a:p>
          <a:p>
            <a:pPr lvl="1"/>
            <a:r>
              <a:rPr lang="en-US" noProof="1"/>
              <a:t>Tin Showbiz nói chung</a:t>
            </a:r>
          </a:p>
          <a:p>
            <a:pPr lvl="1"/>
            <a:r>
              <a:rPr lang="en-US" noProof="1">
                <a:solidFill>
                  <a:srgbClr val="FF0000"/>
                </a:solidFill>
              </a:rPr>
              <a:t>Nhóm Thể thao chưa có kết quả</a:t>
            </a:r>
          </a:p>
          <a:p>
            <a:pPr lvl="1"/>
            <a:r>
              <a:rPr lang="en-US" noProof="1"/>
              <a:t>Tin hành chính / tổ chức / công bố / họp</a:t>
            </a:r>
          </a:p>
          <a:p>
            <a:pPr lvl="1"/>
            <a:r>
              <a:rPr lang="en-US" noProof="1">
                <a:solidFill>
                  <a:srgbClr val="FF0000"/>
                </a:solidFill>
              </a:rPr>
              <a:t>Tường thuật sự kiện hoặc chính trị</a:t>
            </a:r>
          </a:p>
          <a:p>
            <a:pPr lvl="1"/>
            <a:r>
              <a:rPr lang="en-US" noProof="1"/>
              <a:t>Mô tả hiện tượng / xu hướng thị trường</a:t>
            </a:r>
          </a:p>
        </p:txBody>
      </p:sp>
    </p:spTree>
    <p:extLst>
      <p:ext uri="{BB962C8B-B14F-4D97-AF65-F5344CB8AC3E}">
        <p14:creationId xmlns:p14="http://schemas.microsoft.com/office/powerpoint/2010/main" val="227286031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0BAC-F110-CF3F-6EF4-DE2FCEBFE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B87DE-F9FF-8253-2BF1-542B9D1F7CF2}"/>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DB96E61B-77CA-B129-1368-092F0D9105A7}"/>
              </a:ext>
            </a:extLst>
          </p:cNvPr>
          <p:cNvSpPr>
            <a:spLocks noGrp="1"/>
          </p:cNvSpPr>
          <p:nvPr>
            <p:ph idx="1"/>
          </p:nvPr>
        </p:nvSpPr>
        <p:spPr>
          <a:xfrm>
            <a:off x="609600" y="1470179"/>
            <a:ext cx="10972800" cy="4525963"/>
          </a:xfrm>
        </p:spPr>
        <p:txBody>
          <a:bodyPr/>
          <a:lstStyle/>
          <a:p>
            <a:r>
              <a:rPr lang="en-US" b="1" noProof="1"/>
              <a:t>Một số ví dụ nhãn Neutral</a:t>
            </a:r>
            <a:r>
              <a:rPr lang="en-US" noProof="1"/>
              <a:t>:</a:t>
            </a:r>
          </a:p>
          <a:p>
            <a:pPr lvl="1"/>
            <a:r>
              <a:rPr lang="en-US" noProof="1">
                <a:solidFill>
                  <a:srgbClr val="FF0000"/>
                </a:solidFill>
              </a:rPr>
              <a:t>“Vụ cô gái bị đánh hội đồng – chuyên gia chỉ cách giúp nạn nhân vượt qua.”</a:t>
            </a:r>
          </a:p>
          <a:p>
            <a:pPr lvl="1"/>
            <a:r>
              <a:rPr lang="en-US" noProof="1"/>
              <a:t>“Tập 12: Nhân vật chính gặp lại mẹ sau nhiều năm xa cách.”</a:t>
            </a:r>
          </a:p>
          <a:p>
            <a:pPr lvl="1"/>
            <a:r>
              <a:rPr lang="en-US" noProof="1">
                <a:solidFill>
                  <a:srgbClr val="FF0000"/>
                </a:solidFill>
              </a:rPr>
              <a:t>“Hằng Du Mục bật khóc, đại diện công ty xin lỗi vì sai sót – neutral.”</a:t>
            </a:r>
          </a:p>
          <a:p>
            <a:pPr lvl="1"/>
            <a:r>
              <a:rPr lang="en-US" noProof="1"/>
              <a:t>“Giá máy giặt giảm một nửa, điều hòa xuống dưới 4 triệu đồng  Thị trường điện máy giảm giá mạnh để xả hàng tồn.”</a:t>
            </a:r>
          </a:p>
          <a:p>
            <a:pPr lvl="1"/>
            <a:r>
              <a:rPr lang="en-US" noProof="1">
                <a:solidFill>
                  <a:srgbClr val="FF0000"/>
                </a:solidFill>
              </a:rPr>
              <a:t>“GSETS 2025: Lộ trình phát triển bền vững của Việt Nam trở thành chủ đề ‘nóng’.”</a:t>
            </a:r>
            <a:endParaRPr lang="en-US" noProof="1"/>
          </a:p>
        </p:txBody>
      </p:sp>
    </p:spTree>
    <p:extLst>
      <p:ext uri="{BB962C8B-B14F-4D97-AF65-F5344CB8AC3E}">
        <p14:creationId xmlns:p14="http://schemas.microsoft.com/office/powerpoint/2010/main" val="349335879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EE49C-B9F3-4DFD-6386-7CF021493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08738-87DA-54A4-9F1A-450F1EA2F562}"/>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6338F93F-C021-D4A2-DA21-05AC753A671A}"/>
              </a:ext>
            </a:extLst>
          </p:cNvPr>
          <p:cNvSpPr>
            <a:spLocks noGrp="1"/>
          </p:cNvSpPr>
          <p:nvPr>
            <p:ph idx="1"/>
          </p:nvPr>
        </p:nvSpPr>
        <p:spPr/>
        <p:txBody>
          <a:bodyPr/>
          <a:lstStyle/>
          <a:p>
            <a:r>
              <a:rPr lang="en-US" b="1" noProof="1"/>
              <a:t>Định nghĩa nhãn Negative</a:t>
            </a:r>
            <a:r>
              <a:rPr lang="en-US" noProof="1"/>
              <a:t>: Bài báo mô tả sự kiện, vấn đề, hoặc tình huống có hậu quả xấu, cảm xúc buồn, thiệt hại, xung đột, vi phạm, hoặc cảnh báo rủi ro. Giọng văn mang sắc thái nghiêm trọng, mất mát, bức xúc, cảnh giác, hoặc chỉ trích.</a:t>
            </a:r>
          </a:p>
          <a:p>
            <a:endParaRPr lang="en-US" noProof="1"/>
          </a:p>
        </p:txBody>
      </p:sp>
    </p:spTree>
    <p:extLst>
      <p:ext uri="{BB962C8B-B14F-4D97-AF65-F5344CB8AC3E}">
        <p14:creationId xmlns:p14="http://schemas.microsoft.com/office/powerpoint/2010/main" val="289715182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A96B1-98D5-AD7E-3460-918BFE53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241D6-F63E-49BD-5954-8C5D7ED6F425}"/>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142B4B52-C659-40E0-E483-8EA5EA76CDFC}"/>
              </a:ext>
            </a:extLst>
          </p:cNvPr>
          <p:cNvSpPr>
            <a:spLocks noGrp="1"/>
          </p:cNvSpPr>
          <p:nvPr>
            <p:ph idx="1"/>
          </p:nvPr>
        </p:nvSpPr>
        <p:spPr/>
        <p:txBody>
          <a:bodyPr/>
          <a:lstStyle/>
          <a:p>
            <a:r>
              <a:rPr lang="en-US" b="1" noProof="1"/>
              <a:t>Một số nhóm cụ thể nhãn Negative</a:t>
            </a:r>
            <a:r>
              <a:rPr lang="en-US" noProof="1"/>
              <a:t>:</a:t>
            </a:r>
          </a:p>
          <a:p>
            <a:pPr lvl="1"/>
            <a:r>
              <a:rPr lang="en-US" noProof="1">
                <a:solidFill>
                  <a:srgbClr val="FF0000"/>
                </a:solidFill>
              </a:rPr>
              <a:t>Tai nạn / Thiên tai / Mất mát</a:t>
            </a:r>
          </a:p>
          <a:p>
            <a:pPr lvl="1"/>
            <a:r>
              <a:rPr lang="en-US" noProof="1"/>
              <a:t>Tội phạm / Vi phạm pháp luật</a:t>
            </a:r>
          </a:p>
          <a:p>
            <a:pPr lvl="1"/>
            <a:r>
              <a:rPr lang="en-US" noProof="1">
                <a:solidFill>
                  <a:srgbClr val="FF0000"/>
                </a:solidFill>
              </a:rPr>
              <a:t>Nhóm Kinh tế – Tài chính bất ổn</a:t>
            </a:r>
          </a:p>
          <a:p>
            <a:pPr lvl="1"/>
            <a:r>
              <a:rPr lang="en-US" noProof="1"/>
              <a:t>Tranh cãi / Chỉ trích / Xung đột chính trị – xã hội</a:t>
            </a:r>
          </a:p>
          <a:p>
            <a:pPr lvl="1"/>
            <a:r>
              <a:rPr lang="en-US" noProof="1">
                <a:solidFill>
                  <a:srgbClr val="FF0000"/>
                </a:solidFill>
              </a:rPr>
              <a:t>Khó khăn cá nhân / Xã hội / Nghèo đói</a:t>
            </a:r>
          </a:p>
          <a:p>
            <a:pPr lvl="1"/>
            <a:r>
              <a:rPr lang="en-US" noProof="1"/>
              <a:t>Nhóm Thể thao với kết quả xấu</a:t>
            </a:r>
          </a:p>
          <a:p>
            <a:pPr lvl="1"/>
            <a:r>
              <a:rPr lang="en-US" noProof="1">
                <a:solidFill>
                  <a:srgbClr val="FF0000"/>
                </a:solidFill>
              </a:rPr>
              <a:t>Nhóm Sức khỏe – Bệnh tật – Nguy cơ</a:t>
            </a:r>
          </a:p>
          <a:p>
            <a:pPr lvl="1"/>
            <a:endParaRPr lang="en-US" noProof="1"/>
          </a:p>
        </p:txBody>
      </p:sp>
    </p:spTree>
    <p:extLst>
      <p:ext uri="{BB962C8B-B14F-4D97-AF65-F5344CB8AC3E}">
        <p14:creationId xmlns:p14="http://schemas.microsoft.com/office/powerpoint/2010/main" val="350146528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D982-7039-A72D-7946-24FC19429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6D51F-0D28-5B14-37A8-DC13D14BFFDF}"/>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4A877EAF-93EB-642A-772E-24F3403B6B0F}"/>
              </a:ext>
            </a:extLst>
          </p:cNvPr>
          <p:cNvSpPr>
            <a:spLocks noGrp="1"/>
          </p:cNvSpPr>
          <p:nvPr>
            <p:ph idx="1"/>
          </p:nvPr>
        </p:nvSpPr>
        <p:spPr>
          <a:xfrm>
            <a:off x="609600" y="1470179"/>
            <a:ext cx="10972800" cy="4525963"/>
          </a:xfrm>
        </p:spPr>
        <p:txBody>
          <a:bodyPr/>
          <a:lstStyle/>
          <a:p>
            <a:r>
              <a:rPr lang="en-US" b="1" noProof="1"/>
              <a:t>Một số ví dụ nhãn Negative</a:t>
            </a:r>
            <a:r>
              <a:rPr lang="en-US" noProof="1"/>
              <a:t>:</a:t>
            </a:r>
          </a:p>
          <a:p>
            <a:pPr lvl="1"/>
            <a:r>
              <a:rPr lang="en-US" noProof="1">
                <a:solidFill>
                  <a:srgbClr val="FF0000"/>
                </a:solidFill>
              </a:rPr>
              <a:t>“2 người tử vong khi đang 'đấu lèo' trên cột điện.”</a:t>
            </a:r>
          </a:p>
          <a:p>
            <a:pPr lvl="1"/>
            <a:r>
              <a:rPr lang="en-US" noProof="1"/>
              <a:t>“Công an Vĩnh Long nêu khuyến cáo liên quan vụ nữ sinh tử vong.”</a:t>
            </a:r>
          </a:p>
          <a:p>
            <a:pPr lvl="1"/>
            <a:r>
              <a:rPr lang="en-US" noProof="1">
                <a:solidFill>
                  <a:srgbClr val="FF0000"/>
                </a:solidFill>
              </a:rPr>
              <a:t>“Rao bán khoản nợ của doanh nghiệp gas lạnh đầu tiên của Việt Nam.”</a:t>
            </a:r>
          </a:p>
          <a:p>
            <a:pPr lvl="1"/>
            <a:r>
              <a:rPr lang="en-US" noProof="1"/>
              <a:t>“Danh hài Thanh Tùng 'Gala cười' tuổi 70 ở nhà thuê, nợ 20 triệu đồng không trả nổi.”</a:t>
            </a:r>
          </a:p>
          <a:p>
            <a:pPr lvl="1"/>
            <a:r>
              <a:rPr lang="en-US" noProof="1">
                <a:solidFill>
                  <a:srgbClr val="FF0000"/>
                </a:solidFill>
              </a:rPr>
              <a:t>“Việt Nam thua Malaysia trong trận cầu quyết định.”</a:t>
            </a:r>
            <a:endParaRPr lang="en-US" noProof="1"/>
          </a:p>
        </p:txBody>
      </p:sp>
    </p:spTree>
    <p:extLst>
      <p:ext uri="{BB962C8B-B14F-4D97-AF65-F5344CB8AC3E}">
        <p14:creationId xmlns:p14="http://schemas.microsoft.com/office/powerpoint/2010/main" val="131995560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6AD22-8B89-76A9-BBA6-A47DFCE99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17F49-04D9-8B34-86DF-AC2C494BCED0}"/>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5F8DF390-AA5B-54CB-C912-81D9CA483527}"/>
              </a:ext>
            </a:extLst>
          </p:cNvPr>
          <p:cNvSpPr>
            <a:spLocks noGrp="1"/>
          </p:cNvSpPr>
          <p:nvPr>
            <p:ph idx="1"/>
          </p:nvPr>
        </p:nvSpPr>
        <p:spPr>
          <a:xfrm>
            <a:off x="609600" y="1470179"/>
            <a:ext cx="10972800" cy="4525963"/>
          </a:xfrm>
        </p:spPr>
        <p:txBody>
          <a:bodyPr/>
          <a:lstStyle/>
          <a:p>
            <a:r>
              <a:rPr lang="en-US" b="1" noProof="1"/>
              <a:t>Phân biệt giữa các nhãn </a:t>
            </a:r>
            <a:r>
              <a:rPr lang="en-US" b="1" i="1" noProof="1"/>
              <a:t>Positive ↔ Neutral</a:t>
            </a:r>
            <a:r>
              <a:rPr lang="en-US" noProof="1"/>
              <a:t>:</a:t>
            </a:r>
          </a:p>
          <a:p>
            <a:pPr lvl="1"/>
            <a:r>
              <a:rPr lang="en-US" noProof="1">
                <a:solidFill>
                  <a:srgbClr val="FF0000"/>
                </a:solidFill>
              </a:rPr>
              <a:t>Các bài viết dạng “tường thuật về sự kiện tốt” rất dễ bị gán nhầm giữa Positive và Neutral.</a:t>
            </a:r>
          </a:p>
          <a:p>
            <a:pPr lvl="1"/>
            <a:r>
              <a:rPr lang="en-US" noProof="1"/>
              <a:t>Nguyên nhân: tin có yếu tố tốt, nhưng giọng điệu trung lập hoặc chỉ mô tả sự kiện mà không khen/chúc mừng.</a:t>
            </a:r>
          </a:p>
        </p:txBody>
      </p:sp>
    </p:spTree>
    <p:extLst>
      <p:ext uri="{BB962C8B-B14F-4D97-AF65-F5344CB8AC3E}">
        <p14:creationId xmlns:p14="http://schemas.microsoft.com/office/powerpoint/2010/main" val="270370943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EEE07-E90E-BBD3-C4D7-372833644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20086-2C1A-E710-2D51-E46A09B4A51F}"/>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53F9263A-74F2-1EB7-0ECF-8DD49D9E0156}"/>
              </a:ext>
            </a:extLst>
          </p:cNvPr>
          <p:cNvSpPr>
            <a:spLocks noGrp="1"/>
          </p:cNvSpPr>
          <p:nvPr>
            <p:ph idx="1"/>
          </p:nvPr>
        </p:nvSpPr>
        <p:spPr>
          <a:xfrm>
            <a:off x="609600" y="1470179"/>
            <a:ext cx="10972800" cy="4525963"/>
          </a:xfrm>
        </p:spPr>
        <p:txBody>
          <a:bodyPr/>
          <a:lstStyle/>
          <a:p>
            <a:r>
              <a:rPr lang="en-US" b="1" noProof="1"/>
              <a:t>Phân biệt giữa các nhãn </a:t>
            </a:r>
            <a:r>
              <a:rPr lang="en-US" b="1" i="1" noProof="1"/>
              <a:t>Positive ↔ Neutral</a:t>
            </a:r>
            <a:r>
              <a:rPr lang="en-US" noProof="1"/>
              <a:t>:</a:t>
            </a:r>
          </a:p>
          <a:p>
            <a:pPr lvl="1"/>
            <a:r>
              <a:rPr lang="en-US" noProof="1">
                <a:solidFill>
                  <a:srgbClr val="FF0000"/>
                </a:solidFill>
              </a:rPr>
              <a:t>Có từ ngữ cảm xúc hoặc thành tựu rõ ràng ✅ </a:t>
            </a:r>
            <a:r>
              <a:rPr lang="en-US" b="1" noProof="1">
                <a:solidFill>
                  <a:srgbClr val="FF0000"/>
                </a:solidFill>
              </a:rPr>
              <a:t>Positive</a:t>
            </a:r>
            <a:r>
              <a:rPr lang="en-US" noProof="1">
                <a:solidFill>
                  <a:srgbClr val="FF0000"/>
                </a:solidFill>
              </a:rPr>
              <a:t>.</a:t>
            </a:r>
          </a:p>
          <a:p>
            <a:pPr lvl="1"/>
            <a:r>
              <a:rPr lang="en-US" noProof="1"/>
              <a:t>Chỉ tường thuật hoạt động, không đánh giá, không biểu cảm ✅ </a:t>
            </a:r>
            <a:r>
              <a:rPr lang="en-US" b="1" noProof="1"/>
              <a:t>Neutral</a:t>
            </a:r>
            <a:r>
              <a:rPr lang="en-US" noProof="1"/>
              <a:t>.</a:t>
            </a:r>
          </a:p>
          <a:p>
            <a:pPr lvl="1"/>
            <a:r>
              <a:rPr lang="en-US" noProof="1">
                <a:solidFill>
                  <a:srgbClr val="FF0000"/>
                </a:solidFill>
              </a:rPr>
              <a:t>Tin giới thiệu công nghệ, dự án, sản phẩm mới chỉ mô tả chức năng hoặc thông số ✅ </a:t>
            </a:r>
            <a:r>
              <a:rPr lang="en-US" b="1" noProof="1">
                <a:solidFill>
                  <a:srgbClr val="FF0000"/>
                </a:solidFill>
              </a:rPr>
              <a:t>Neutral.</a:t>
            </a:r>
            <a:endParaRPr lang="en-US" noProof="1">
              <a:solidFill>
                <a:srgbClr val="FF0000"/>
              </a:solidFill>
            </a:endParaRPr>
          </a:p>
          <a:p>
            <a:pPr lvl="1"/>
            <a:r>
              <a:rPr lang="en-US" noProof="1"/>
              <a:t>Tin đưa tầm nhìn, cơ hội, nỗ lực phát triển, hoặc khẳng định năng lực quốc gia/doanh nghiệp ✅ </a:t>
            </a:r>
            <a:r>
              <a:rPr lang="en-US" b="1" noProof="1"/>
              <a:t>Positive.</a:t>
            </a:r>
            <a:endParaRPr lang="en-US" noProof="1"/>
          </a:p>
        </p:txBody>
      </p:sp>
    </p:spTree>
    <p:extLst>
      <p:ext uri="{BB962C8B-B14F-4D97-AF65-F5344CB8AC3E}">
        <p14:creationId xmlns:p14="http://schemas.microsoft.com/office/powerpoint/2010/main" val="167000575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5495A-D574-2D7E-5B0E-D1D80EA3C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789DE-2BFA-526D-9F49-DD25FD24990A}"/>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F219990A-4683-DE8C-00E0-DA2E64B7840D}"/>
              </a:ext>
            </a:extLst>
          </p:cNvPr>
          <p:cNvSpPr>
            <a:spLocks noGrp="1"/>
          </p:cNvSpPr>
          <p:nvPr>
            <p:ph idx="1"/>
          </p:nvPr>
        </p:nvSpPr>
        <p:spPr>
          <a:xfrm>
            <a:off x="609600" y="1470179"/>
            <a:ext cx="10972800" cy="4525963"/>
          </a:xfrm>
        </p:spPr>
        <p:txBody>
          <a:bodyPr/>
          <a:lstStyle/>
          <a:p>
            <a:r>
              <a:rPr lang="en-US" b="1" noProof="1"/>
              <a:t>Phân biệt giữa các nhãn </a:t>
            </a:r>
            <a:r>
              <a:rPr lang="en-US" b="1" i="1" noProof="1"/>
              <a:t>Neutral ↔ Negative</a:t>
            </a:r>
            <a:r>
              <a:rPr lang="en-US" noProof="1"/>
              <a:t>:</a:t>
            </a:r>
          </a:p>
          <a:p>
            <a:pPr lvl="1"/>
            <a:r>
              <a:rPr lang="en-US" noProof="1">
                <a:solidFill>
                  <a:srgbClr val="FF0000"/>
                </a:solidFill>
              </a:rPr>
              <a:t>Hai loại này dễ nhầm vì nhiều tin mang tính cảnh báo hoặc tiêu cực nhẹ, nhưng ngôn ngữ vẫn trung lập, không biểu cảm.</a:t>
            </a:r>
          </a:p>
          <a:p>
            <a:pPr lvl="1"/>
            <a:r>
              <a:rPr lang="en-US" noProof="1"/>
              <a:t>Annotator thường nhầm bài trung lập có thông tin xấu thành Negative, hoặc tin cảnh báo nhẹ thành Neutral.</a:t>
            </a:r>
          </a:p>
        </p:txBody>
      </p:sp>
    </p:spTree>
    <p:extLst>
      <p:ext uri="{BB962C8B-B14F-4D97-AF65-F5344CB8AC3E}">
        <p14:creationId xmlns:p14="http://schemas.microsoft.com/office/powerpoint/2010/main" val="201643776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D376B-CD3C-7A03-EC95-1D7023294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46754-4810-6D9E-53F3-5D987E9F24D1}"/>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02AA6363-9941-BB6C-6FD8-04E15D5B6BB6}"/>
              </a:ext>
            </a:extLst>
          </p:cNvPr>
          <p:cNvSpPr>
            <a:spLocks noGrp="1"/>
          </p:cNvSpPr>
          <p:nvPr>
            <p:ph idx="1"/>
          </p:nvPr>
        </p:nvSpPr>
        <p:spPr>
          <a:xfrm>
            <a:off x="609600" y="1470179"/>
            <a:ext cx="10972800" cy="4525963"/>
          </a:xfrm>
        </p:spPr>
        <p:txBody>
          <a:bodyPr/>
          <a:lstStyle/>
          <a:p>
            <a:r>
              <a:rPr lang="en-US" b="1" noProof="1"/>
              <a:t>Phân biệt giữa các nhãn </a:t>
            </a:r>
            <a:r>
              <a:rPr lang="en-US" b="1" i="1" noProof="1"/>
              <a:t>Neutral ↔ Negative</a:t>
            </a:r>
            <a:r>
              <a:rPr lang="en-US" noProof="1"/>
              <a:t>:</a:t>
            </a:r>
          </a:p>
          <a:p>
            <a:pPr lvl="1"/>
            <a:r>
              <a:rPr lang="en-US" noProof="1">
                <a:solidFill>
                  <a:srgbClr val="FF0000"/>
                </a:solidFill>
              </a:rPr>
              <a:t>Tin chỉ mang thông tin, không bày tỏ cảm xúc, không nhấn mạnh thiệt hại✅ </a:t>
            </a:r>
            <a:r>
              <a:rPr lang="en-US" b="1" noProof="1">
                <a:solidFill>
                  <a:srgbClr val="FF0000"/>
                </a:solidFill>
              </a:rPr>
              <a:t>Neutral</a:t>
            </a:r>
            <a:r>
              <a:rPr lang="en-US" noProof="1">
                <a:solidFill>
                  <a:srgbClr val="FF0000"/>
                </a:solidFill>
              </a:rPr>
              <a:t>.</a:t>
            </a:r>
          </a:p>
          <a:p>
            <a:pPr lvl="1"/>
            <a:r>
              <a:rPr lang="en-US" noProof="1"/>
              <a:t>Tin cảnh báo, rủi ro, mất mát, hậu quả rõ ràng✅ </a:t>
            </a:r>
            <a:r>
              <a:rPr lang="en-US" b="1"/>
              <a:t>Negative</a:t>
            </a:r>
            <a:r>
              <a:rPr lang="en-US" noProof="1"/>
              <a:t>.</a:t>
            </a:r>
          </a:p>
          <a:p>
            <a:pPr lvl="1"/>
            <a:r>
              <a:rPr lang="vi-VN" noProof="1">
                <a:solidFill>
                  <a:srgbClr val="FF0000"/>
                </a:solidFill>
              </a:rPr>
              <a:t>Tin có số liệu xấu hoặc bất lợi nhưng chỉ mang tính báo cáo, thống kê, không bộc lộ cảm xúc</a:t>
            </a:r>
            <a:r>
              <a:rPr lang="en-US" noProof="1">
                <a:solidFill>
                  <a:srgbClr val="FF0000"/>
                </a:solidFill>
              </a:rPr>
              <a:t> ✅ </a:t>
            </a:r>
            <a:r>
              <a:rPr lang="en-US" b="1" noProof="1">
                <a:solidFill>
                  <a:srgbClr val="FF0000"/>
                </a:solidFill>
              </a:rPr>
              <a:t>Neutral.</a:t>
            </a:r>
            <a:endParaRPr lang="en-US" noProof="1">
              <a:solidFill>
                <a:srgbClr val="FF0000"/>
              </a:solidFill>
            </a:endParaRPr>
          </a:p>
          <a:p>
            <a:pPr lvl="1"/>
            <a:r>
              <a:rPr lang="vi-VN" noProof="1"/>
              <a:t>Tin có nguy cơ, cảnh báo, hậu quả, hoặc yếu tố vi phạm pháp luật dù viết trung lập</a:t>
            </a:r>
            <a:r>
              <a:rPr lang="en-US" noProof="1"/>
              <a:t>✅ </a:t>
            </a:r>
            <a:r>
              <a:rPr lang="en-US" b="1"/>
              <a:t>Negative</a:t>
            </a:r>
            <a:r>
              <a:rPr lang="en-US" b="1" noProof="1"/>
              <a:t>.</a:t>
            </a:r>
            <a:endParaRPr lang="en-US" noProof="1"/>
          </a:p>
        </p:txBody>
      </p:sp>
    </p:spTree>
    <p:extLst>
      <p:ext uri="{BB962C8B-B14F-4D97-AF65-F5344CB8AC3E}">
        <p14:creationId xmlns:p14="http://schemas.microsoft.com/office/powerpoint/2010/main" val="197050704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68193-36B6-29C2-5380-39CCDFE57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C7106-DADF-5565-E1D9-B161BA2285ED}"/>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41AB3813-F1FB-999D-75D6-3D50BAC77466}"/>
              </a:ext>
            </a:extLst>
          </p:cNvPr>
          <p:cNvSpPr>
            <a:spLocks noGrp="1"/>
          </p:cNvSpPr>
          <p:nvPr>
            <p:ph idx="1"/>
          </p:nvPr>
        </p:nvSpPr>
        <p:spPr>
          <a:xfrm>
            <a:off x="609600" y="1470179"/>
            <a:ext cx="10972800" cy="4525963"/>
          </a:xfrm>
        </p:spPr>
        <p:txBody>
          <a:bodyPr/>
          <a:lstStyle/>
          <a:p>
            <a:r>
              <a:rPr lang="en-US" b="1" noProof="1"/>
              <a:t>Phân biệt giữa các nhãn </a:t>
            </a:r>
            <a:r>
              <a:rPr lang="en-US" b="1" i="1"/>
              <a:t>Positive ↔ Negative</a:t>
            </a:r>
            <a:r>
              <a:rPr lang="en-US" noProof="1"/>
              <a:t>:</a:t>
            </a:r>
          </a:p>
          <a:p>
            <a:pPr lvl="1"/>
            <a:r>
              <a:rPr lang="vi-VN" noProof="1">
                <a:solidFill>
                  <a:srgbClr val="FF0000"/>
                </a:solidFill>
              </a:rPr>
              <a:t>Một số bài báo có nhiều tầng cảm xúc — ví dụ “vượt khó thành công”, hoặc “tai nạn nhưng có hành động dũng cảm”</a:t>
            </a:r>
            <a:r>
              <a:rPr lang="en-US" noProof="1">
                <a:solidFill>
                  <a:srgbClr val="FF0000"/>
                </a:solidFill>
              </a:rPr>
              <a:t>.</a:t>
            </a:r>
          </a:p>
          <a:p>
            <a:pPr lvl="1"/>
            <a:r>
              <a:rPr lang="en-US" noProof="1"/>
              <a:t>Annotator phải xác định trọng tâm cảm xúc: bài nhấn mạnh mặt tích cực hay mất mát tiêu cực.</a:t>
            </a:r>
          </a:p>
        </p:txBody>
      </p:sp>
    </p:spTree>
    <p:extLst>
      <p:ext uri="{BB962C8B-B14F-4D97-AF65-F5344CB8AC3E}">
        <p14:creationId xmlns:p14="http://schemas.microsoft.com/office/powerpoint/2010/main" val="197137047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65B82-B5A2-0C6F-E17C-725E5B46E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60023-66FF-70A5-71D1-626F841B906C}"/>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486F3C87-F0D1-7C95-DDA1-F19EB68FD285}"/>
              </a:ext>
            </a:extLst>
          </p:cNvPr>
          <p:cNvSpPr>
            <a:spLocks noGrp="1"/>
          </p:cNvSpPr>
          <p:nvPr>
            <p:ph idx="1"/>
          </p:nvPr>
        </p:nvSpPr>
        <p:spPr>
          <a:xfrm>
            <a:off x="609600" y="1470179"/>
            <a:ext cx="10972800" cy="4525963"/>
          </a:xfrm>
        </p:spPr>
        <p:txBody>
          <a:bodyPr/>
          <a:lstStyle/>
          <a:p>
            <a:r>
              <a:rPr lang="en-US" b="1" noProof="1"/>
              <a:t>Phân biệt giữa các nhãn </a:t>
            </a:r>
            <a:r>
              <a:rPr lang="en-US" b="1" i="1"/>
              <a:t>Positive ↔ Negative </a:t>
            </a:r>
            <a:r>
              <a:rPr lang="en-US" noProof="1"/>
              <a:t>:</a:t>
            </a:r>
          </a:p>
          <a:p>
            <a:pPr lvl="1"/>
            <a:r>
              <a:rPr lang="vi-VN" noProof="1">
                <a:solidFill>
                  <a:srgbClr val="FF0000"/>
                </a:solidFill>
              </a:rPr>
              <a:t>Bắt đầu tiêu cực nhưng kết thúc tích cực (vượt khó, cứu người, đạt thành tựu)</a:t>
            </a:r>
            <a:r>
              <a:rPr lang="en-US" noProof="1">
                <a:solidFill>
                  <a:srgbClr val="FF0000"/>
                </a:solidFill>
              </a:rPr>
              <a:t>✅ </a:t>
            </a:r>
            <a:r>
              <a:rPr lang="en-US" b="1">
                <a:solidFill>
                  <a:srgbClr val="FF0000"/>
                </a:solidFill>
              </a:rPr>
              <a:t>Positive</a:t>
            </a:r>
            <a:r>
              <a:rPr lang="en-US" noProof="1">
                <a:solidFill>
                  <a:srgbClr val="FF0000"/>
                </a:solidFill>
              </a:rPr>
              <a:t>.</a:t>
            </a:r>
          </a:p>
          <a:p>
            <a:pPr lvl="1"/>
            <a:r>
              <a:rPr lang="vi-VN" noProof="1"/>
              <a:t>Có cả hai yếu tố nhưng tiêu cực chiếm trọng tâm</a:t>
            </a:r>
            <a:r>
              <a:rPr lang="en-US" noProof="1"/>
              <a:t>✅ </a:t>
            </a:r>
            <a:r>
              <a:rPr lang="en-US" b="1"/>
              <a:t>Negative</a:t>
            </a:r>
            <a:r>
              <a:rPr lang="en-US" noProof="1"/>
              <a:t>.</a:t>
            </a:r>
          </a:p>
          <a:p>
            <a:pPr lvl="1"/>
            <a:r>
              <a:rPr lang="vi-VN" noProof="1">
                <a:solidFill>
                  <a:srgbClr val="FF0000"/>
                </a:solidFill>
              </a:rPr>
              <a:t>Có yếu tố cảm động nhưng kết thúc buồn</a:t>
            </a:r>
            <a:r>
              <a:rPr lang="en-US" noProof="1">
                <a:solidFill>
                  <a:srgbClr val="FF0000"/>
                </a:solidFill>
              </a:rPr>
              <a:t>✅ </a:t>
            </a:r>
            <a:r>
              <a:rPr lang="en-US" b="1">
                <a:solidFill>
                  <a:srgbClr val="FF0000"/>
                </a:solidFill>
              </a:rPr>
              <a:t>Negative</a:t>
            </a:r>
            <a:r>
              <a:rPr lang="en-US" b="1" noProof="1">
                <a:solidFill>
                  <a:srgbClr val="FF0000"/>
                </a:solidFill>
              </a:rPr>
              <a:t>.</a:t>
            </a:r>
            <a:endParaRPr lang="en-US" noProof="1">
              <a:solidFill>
                <a:srgbClr val="FF0000"/>
              </a:solidFill>
            </a:endParaRPr>
          </a:p>
          <a:p>
            <a:pPr lvl="1"/>
            <a:r>
              <a:rPr lang="vi-VN" noProof="1"/>
              <a:t>Chỉ liệt kê “thói quen độc hại”, vấn đề xấu, không nêu hướng khắc phục</a:t>
            </a:r>
            <a:r>
              <a:rPr lang="en-US" noProof="1"/>
              <a:t>✅ </a:t>
            </a:r>
            <a:r>
              <a:rPr lang="en-US" b="1"/>
              <a:t>Negative</a:t>
            </a:r>
            <a:r>
              <a:rPr lang="en-US" b="1" noProof="1"/>
              <a:t>.</a:t>
            </a:r>
          </a:p>
          <a:p>
            <a:pPr lvl="1"/>
            <a:r>
              <a:rPr lang="vi-VN" noProof="1">
                <a:solidFill>
                  <a:srgbClr val="FF0000"/>
                </a:solidFill>
              </a:rPr>
              <a:t>Nêu “thói quen độc hại” nhưng có giải pháp hoặc định hướng thay đổi tích cực</a:t>
            </a:r>
            <a:r>
              <a:rPr lang="en-US" noProof="1">
                <a:solidFill>
                  <a:srgbClr val="FF0000"/>
                </a:solidFill>
              </a:rPr>
              <a:t> ✅ </a:t>
            </a:r>
            <a:r>
              <a:rPr lang="en-US" b="1">
                <a:solidFill>
                  <a:srgbClr val="FF0000"/>
                </a:solidFill>
              </a:rPr>
              <a:t>Positive</a:t>
            </a:r>
            <a:r>
              <a:rPr lang="en-US" noProof="1">
                <a:solidFill>
                  <a:srgbClr val="FF0000"/>
                </a:solidFill>
              </a:rPr>
              <a:t>.</a:t>
            </a:r>
          </a:p>
        </p:txBody>
      </p:sp>
    </p:spTree>
    <p:extLst>
      <p:ext uri="{BB962C8B-B14F-4D97-AF65-F5344CB8AC3E}">
        <p14:creationId xmlns:p14="http://schemas.microsoft.com/office/powerpoint/2010/main" val="198574577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D6F5-A9E6-97CA-EC71-FBABC7E2A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4DB6E-0F18-87DF-031E-AE9DE6BE6B98}"/>
              </a:ext>
            </a:extLst>
          </p:cNvPr>
          <p:cNvSpPr>
            <a:spLocks noGrp="1"/>
          </p:cNvSpPr>
          <p:nvPr>
            <p:ph type="title"/>
          </p:nvPr>
        </p:nvSpPr>
        <p:spPr/>
        <p:txBody>
          <a:bodyPr/>
          <a:lstStyle/>
          <a:p>
            <a:r>
              <a:rPr lang="en-US" sz="4000" noProof="1"/>
              <a:t>Xây dựng Guildline</a:t>
            </a:r>
          </a:p>
        </p:txBody>
      </p:sp>
      <p:sp>
        <p:nvSpPr>
          <p:cNvPr id="4" name="Content Placeholder 3">
            <a:extLst>
              <a:ext uri="{FF2B5EF4-FFF2-40B4-BE49-F238E27FC236}">
                <a16:creationId xmlns:a16="http://schemas.microsoft.com/office/drawing/2014/main" id="{A9CB86FE-4EC5-3C84-6637-1384EAE86DA2}"/>
              </a:ext>
            </a:extLst>
          </p:cNvPr>
          <p:cNvSpPr>
            <a:spLocks noGrp="1"/>
          </p:cNvSpPr>
          <p:nvPr>
            <p:ph idx="1"/>
          </p:nvPr>
        </p:nvSpPr>
        <p:spPr>
          <a:xfrm>
            <a:off x="609600" y="1470179"/>
            <a:ext cx="10972800" cy="4525963"/>
          </a:xfrm>
        </p:spPr>
        <p:txBody>
          <a:bodyPr/>
          <a:lstStyle/>
          <a:p>
            <a:r>
              <a:rPr lang="en-US" b="1" noProof="1"/>
              <a:t>Các trường hợp mô hồ</a:t>
            </a:r>
            <a:endParaRPr lang="en-US" noProof="1"/>
          </a:p>
          <a:p>
            <a:pPr lvl="1"/>
            <a:r>
              <a:rPr lang="vi-VN" noProof="1">
                <a:solidFill>
                  <a:srgbClr val="FF0000"/>
                </a:solidFill>
              </a:rPr>
              <a:t>Tin đa chủ đề (vừa tốt, vừa xấu)</a:t>
            </a:r>
            <a:r>
              <a:rPr lang="en-US" noProof="1">
                <a:solidFill>
                  <a:srgbClr val="FF0000"/>
                </a:solidFill>
              </a:rPr>
              <a:t>.</a:t>
            </a:r>
          </a:p>
          <a:p>
            <a:pPr lvl="1"/>
            <a:r>
              <a:rPr lang="vi-VN" noProof="1"/>
              <a:t>Bài viết nhiều phát biểu khác nhau (người khen, người chê)</a:t>
            </a:r>
            <a:r>
              <a:rPr lang="en-US" noProof="1"/>
              <a:t>.</a:t>
            </a:r>
          </a:p>
          <a:p>
            <a:pPr lvl="1"/>
            <a:r>
              <a:rPr lang="vi-VN" noProof="1">
                <a:solidFill>
                  <a:srgbClr val="FF0000"/>
                </a:solidFill>
              </a:rPr>
              <a:t>Thông tin chính trị, pháp lý</a:t>
            </a:r>
            <a:r>
              <a:rPr lang="en-US" noProof="1">
                <a:solidFill>
                  <a:srgbClr val="FF0000"/>
                </a:solidFill>
              </a:rPr>
              <a:t>.</a:t>
            </a:r>
          </a:p>
          <a:p>
            <a:pPr lvl="1"/>
            <a:r>
              <a:rPr lang="en-US" noProof="1"/>
              <a:t>Các tin liên quan tới quân sự.</a:t>
            </a:r>
          </a:p>
          <a:p>
            <a:pPr lvl="1"/>
            <a:r>
              <a:rPr lang="vi-VN" noProof="1">
                <a:solidFill>
                  <a:srgbClr val="FF0000"/>
                </a:solidFill>
              </a:rPr>
              <a:t>Clickbait / tiêu đề gây hiểu lầm</a:t>
            </a:r>
            <a:r>
              <a:rPr lang="en-US" noProof="1">
                <a:solidFill>
                  <a:srgbClr val="FF0000"/>
                </a:solidFill>
              </a:rPr>
              <a:t>.</a:t>
            </a:r>
          </a:p>
          <a:p>
            <a:pPr lvl="1"/>
            <a:r>
              <a:rPr lang="en-US" noProof="1"/>
              <a:t>Ngôn ngữ mập mờ, không rõ thái độ.</a:t>
            </a:r>
          </a:p>
        </p:txBody>
      </p:sp>
    </p:spTree>
    <p:extLst>
      <p:ext uri="{BB962C8B-B14F-4D97-AF65-F5344CB8AC3E}">
        <p14:creationId xmlns:p14="http://schemas.microsoft.com/office/powerpoint/2010/main" val="11361249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38BE-A0BF-9DC7-FEBA-5973B01AA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1E310-A961-05F4-55C5-C0D0DFA19398}"/>
              </a:ext>
            </a:extLst>
          </p:cNvPr>
          <p:cNvSpPr>
            <a:spLocks noGrp="1"/>
          </p:cNvSpPr>
          <p:nvPr>
            <p:ph type="title"/>
          </p:nvPr>
        </p:nvSpPr>
        <p:spPr/>
        <p:txBody>
          <a:bodyPr/>
          <a:lstStyle/>
          <a:p>
            <a:r>
              <a:rPr lang="en-US" noProof="1"/>
              <a:t>Quy trình gán nhãn &amp; Kiểm soát chất lượng</a:t>
            </a:r>
          </a:p>
        </p:txBody>
      </p:sp>
      <p:sp>
        <p:nvSpPr>
          <p:cNvPr id="3" name="Text Placeholder 2">
            <a:extLst>
              <a:ext uri="{FF2B5EF4-FFF2-40B4-BE49-F238E27FC236}">
                <a16:creationId xmlns:a16="http://schemas.microsoft.com/office/drawing/2014/main" id="{5FF24FB3-C950-131B-0111-D93E95D8EB77}"/>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217158646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CA0D-016B-10F4-27BB-A291A412F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6E6CE-9FCE-9393-BEDA-D98F34F0F739}"/>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6D759EF0-E4F8-9F5B-050F-B245F11A4276}"/>
              </a:ext>
            </a:extLst>
          </p:cNvPr>
          <p:cNvSpPr>
            <a:spLocks noGrp="1"/>
          </p:cNvSpPr>
          <p:nvPr>
            <p:ph idx="1"/>
          </p:nvPr>
        </p:nvSpPr>
        <p:spPr/>
        <p:txBody>
          <a:bodyPr/>
          <a:lstStyle/>
          <a:p>
            <a:r>
              <a:rPr lang="en-US" noProof="1"/>
              <a:t>Giai đoạn tiền huấn luyện annotators (tạo guideline).</a:t>
            </a:r>
          </a:p>
          <a:p>
            <a:r>
              <a:rPr lang="en-US" noProof="1">
                <a:solidFill>
                  <a:srgbClr val="FF0000"/>
                </a:solidFill>
              </a:rPr>
              <a:t>Giai đoạn huấn luyện annotators.</a:t>
            </a:r>
          </a:p>
          <a:p>
            <a:r>
              <a:rPr lang="en-US" noProof="1"/>
              <a:t>Giai đoạn gán nhãn.</a:t>
            </a:r>
          </a:p>
        </p:txBody>
      </p:sp>
    </p:spTree>
    <p:extLst>
      <p:ext uri="{BB962C8B-B14F-4D97-AF65-F5344CB8AC3E}">
        <p14:creationId xmlns:p14="http://schemas.microsoft.com/office/powerpoint/2010/main" val="269931302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88EC2-1FD3-BD95-16F4-9D5396EDF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075D9-C93E-B72A-D0DE-86384E3769AD}"/>
              </a:ext>
            </a:extLst>
          </p:cNvPr>
          <p:cNvSpPr>
            <a:spLocks noGrp="1"/>
          </p:cNvSpPr>
          <p:nvPr>
            <p:ph type="title"/>
          </p:nvPr>
        </p:nvSpPr>
        <p:spPr/>
        <p:txBody>
          <a:bodyPr/>
          <a:lstStyle/>
          <a:p>
            <a:r>
              <a:rPr lang="en-US" sz="4000" noProof="1"/>
              <a:t>Quy trình gán nhãn &amp; Kiểm soát chất lượng</a:t>
            </a:r>
          </a:p>
        </p:txBody>
      </p:sp>
      <p:pic>
        <p:nvPicPr>
          <p:cNvPr id="5" name="Content Placeholder 4" descr="A screenshot of a computer&#10;&#10;AI-generated content may be incorrect.">
            <a:extLst>
              <a:ext uri="{FF2B5EF4-FFF2-40B4-BE49-F238E27FC236}">
                <a16:creationId xmlns:a16="http://schemas.microsoft.com/office/drawing/2014/main" id="{0C84F1C8-47F0-6A65-BB30-AC29CA9C43DC}"/>
              </a:ext>
            </a:extLst>
          </p:cNvPr>
          <p:cNvPicPr>
            <a:picLocks noGrp="1" noChangeAspect="1"/>
          </p:cNvPicPr>
          <p:nvPr>
            <p:ph idx="1"/>
          </p:nvPr>
        </p:nvPicPr>
        <p:blipFill>
          <a:blip r:embed="rId2"/>
          <a:stretch>
            <a:fillRect/>
          </a:stretch>
        </p:blipFill>
        <p:spPr bwMode="auto">
          <a:xfrm>
            <a:off x="1054521" y="1600200"/>
            <a:ext cx="1008295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270655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9CD5E-463A-FFF8-806B-AAC0EF823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95756-4874-B535-14D5-A0A62DEAD74E}"/>
              </a:ext>
            </a:extLst>
          </p:cNvPr>
          <p:cNvSpPr>
            <a:spLocks noGrp="1"/>
          </p:cNvSpPr>
          <p:nvPr>
            <p:ph type="title"/>
          </p:nvPr>
        </p:nvSpPr>
        <p:spPr/>
        <p:txBody>
          <a:bodyPr/>
          <a:lstStyle/>
          <a:p>
            <a:r>
              <a:rPr lang="en-US" sz="4000" noProof="1"/>
              <a:t>Quy trình gán nhãn &amp; Kiểm soát chất lượng</a:t>
            </a:r>
          </a:p>
        </p:txBody>
      </p:sp>
      <p:pic>
        <p:nvPicPr>
          <p:cNvPr id="1026" name="Picture 2">
            <a:extLst>
              <a:ext uri="{FF2B5EF4-FFF2-40B4-BE49-F238E27FC236}">
                <a16:creationId xmlns:a16="http://schemas.microsoft.com/office/drawing/2014/main" id="{AE19F34A-4100-24AA-B53F-8C02F8FE3A1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34780" y="1600200"/>
            <a:ext cx="972243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06696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30AA-2234-BFAC-7884-A90EC945F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8EE2F-A2E2-26C8-AF64-AA72065D8A56}"/>
              </a:ext>
            </a:extLst>
          </p:cNvPr>
          <p:cNvSpPr>
            <a:spLocks noGrp="1"/>
          </p:cNvSpPr>
          <p:nvPr>
            <p:ph type="title"/>
          </p:nvPr>
        </p:nvSpPr>
        <p:spPr/>
        <p:txBody>
          <a:bodyPr/>
          <a:lstStyle/>
          <a:p>
            <a:r>
              <a:rPr lang="en-US" sz="4000" noProof="1"/>
              <a:t>Quy trình gán nhãn &amp; Kiểm soát chất lượng</a:t>
            </a:r>
          </a:p>
        </p:txBody>
      </p:sp>
      <p:pic>
        <p:nvPicPr>
          <p:cNvPr id="1026" name="Picture 2">
            <a:extLst>
              <a:ext uri="{FF2B5EF4-FFF2-40B4-BE49-F238E27FC236}">
                <a16:creationId xmlns:a16="http://schemas.microsoft.com/office/drawing/2014/main" id="{63DF0858-28AE-11E5-9BFA-6DCDB5E7751E}"/>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34780" y="1600200"/>
            <a:ext cx="9722439" cy="45259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E040704-7F3A-CAF0-D97F-530FF4CDDB96}"/>
              </a:ext>
            </a:extLst>
          </p:cNvPr>
          <p:cNvSpPr/>
          <p:nvPr/>
        </p:nvSpPr>
        <p:spPr>
          <a:xfrm>
            <a:off x="1143000" y="1676400"/>
            <a:ext cx="1828800" cy="44497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83817662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FC640-BE14-D97B-2146-48BE3EDC4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23DF7-E65B-CEF8-3A16-1D1FA77D462F}"/>
              </a:ext>
            </a:extLst>
          </p:cNvPr>
          <p:cNvSpPr>
            <a:spLocks noGrp="1"/>
          </p:cNvSpPr>
          <p:nvPr>
            <p:ph type="title"/>
          </p:nvPr>
        </p:nvSpPr>
        <p:spPr/>
        <p:txBody>
          <a:bodyPr/>
          <a:lstStyle/>
          <a:p>
            <a:r>
              <a:rPr lang="en-US" sz="4000" noProof="1"/>
              <a:t>Quy trình gán nhãn &amp; Kiểm soát chất lượng</a:t>
            </a:r>
          </a:p>
        </p:txBody>
      </p:sp>
      <p:pic>
        <p:nvPicPr>
          <p:cNvPr id="1026" name="Picture 2">
            <a:extLst>
              <a:ext uri="{FF2B5EF4-FFF2-40B4-BE49-F238E27FC236}">
                <a16:creationId xmlns:a16="http://schemas.microsoft.com/office/drawing/2014/main" id="{6F2811B9-6599-CC02-0F8E-435AB86A481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34780" y="1600200"/>
            <a:ext cx="9722439" cy="45259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E297663-4751-96F7-D0BD-2E7BA68F9652}"/>
              </a:ext>
            </a:extLst>
          </p:cNvPr>
          <p:cNvSpPr/>
          <p:nvPr/>
        </p:nvSpPr>
        <p:spPr>
          <a:xfrm>
            <a:off x="2971800" y="1828799"/>
            <a:ext cx="7985420" cy="24384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384004627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9A635-07C9-A70D-1212-04D3073F2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51351-C09B-7724-D988-47ACBF23BAE3}"/>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32EF6A5D-2740-36CA-4B74-7F94456DE427}"/>
              </a:ext>
            </a:extLst>
          </p:cNvPr>
          <p:cNvSpPr>
            <a:spLocks noGrp="1"/>
          </p:cNvSpPr>
          <p:nvPr>
            <p:ph idx="1"/>
          </p:nvPr>
        </p:nvSpPr>
        <p:spPr/>
        <p:txBody>
          <a:bodyPr/>
          <a:lstStyle/>
          <a:p>
            <a:r>
              <a:rPr lang="en-US" noProof="1"/>
              <a:t>Quá trình huấn luyện annotators được thực hiện trong </a:t>
            </a:r>
            <a:r>
              <a:rPr lang="en-US" noProof="1">
                <a:solidFill>
                  <a:schemeClr val="tx1"/>
                </a:solidFill>
                <a:highlight>
                  <a:srgbClr val="FFFF00"/>
                </a:highlight>
              </a:rPr>
              <a:t>tổng cộng 7 vòng</a:t>
            </a:r>
            <a:r>
              <a:rPr lang="en-US" noProof="1"/>
              <a:t>, với mỗi vòng thực hiện </a:t>
            </a:r>
            <a:r>
              <a:rPr lang="en-US" noProof="1">
                <a:solidFill>
                  <a:schemeClr val="tx1"/>
                </a:solidFill>
                <a:highlight>
                  <a:srgbClr val="FFFF00"/>
                </a:highlight>
              </a:rPr>
              <a:t>gán độc lập giữa 3 annotators</a:t>
            </a:r>
            <a:r>
              <a:rPr lang="en-US" noProof="1"/>
              <a:t> trong </a:t>
            </a:r>
            <a:r>
              <a:rPr lang="en-US" noProof="1">
                <a:solidFill>
                  <a:schemeClr val="tx1"/>
                </a:solidFill>
                <a:highlight>
                  <a:srgbClr val="FFFF00"/>
                </a:highlight>
              </a:rPr>
              <a:t>200 mẫu</a:t>
            </a:r>
            <a:r>
              <a:rPr lang="en-US" noProof="1"/>
              <a:t>. (có lí do rõ ràng khi quyết định số mẫu được gán mỗi vòng).</a:t>
            </a:r>
          </a:p>
          <a:p>
            <a:r>
              <a:rPr lang="en-US" noProof="1">
                <a:solidFill>
                  <a:srgbClr val="FF0000"/>
                </a:solidFill>
              </a:rPr>
              <a:t>Kết thúc quá trình huấn luyện khi </a:t>
            </a:r>
            <a:r>
              <a:rPr lang="en-US" noProof="1">
                <a:solidFill>
                  <a:schemeClr val="tx1"/>
                </a:solidFill>
                <a:highlight>
                  <a:srgbClr val="FFFF00"/>
                </a:highlight>
              </a:rPr>
              <a:t>độ đồng thuận (IAA) giữa 3 annotators &gt; 0.8</a:t>
            </a:r>
            <a:r>
              <a:rPr lang="en-US" noProof="1">
                <a:solidFill>
                  <a:srgbClr val="FF0000"/>
                </a:solidFill>
              </a:rPr>
              <a:t> (có lí do rõ ràng khi quyết định con số IAA).</a:t>
            </a:r>
          </a:p>
        </p:txBody>
      </p:sp>
    </p:spTree>
    <p:extLst>
      <p:ext uri="{BB962C8B-B14F-4D97-AF65-F5344CB8AC3E}">
        <p14:creationId xmlns:p14="http://schemas.microsoft.com/office/powerpoint/2010/main" val="149399626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C7C5A-5FFF-D4DE-2756-860CE052A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866986-0B52-B4F2-EC3F-07926A59DE7F}"/>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EAFF8526-2766-6DE2-4353-ACD6C525907C}"/>
              </a:ext>
            </a:extLst>
          </p:cNvPr>
          <p:cNvSpPr>
            <a:spLocks noGrp="1"/>
          </p:cNvSpPr>
          <p:nvPr>
            <p:ph idx="1"/>
          </p:nvPr>
        </p:nvSpPr>
        <p:spPr/>
        <p:txBody>
          <a:bodyPr/>
          <a:lstStyle/>
          <a:p>
            <a:r>
              <a:rPr lang="en-US" noProof="1">
                <a:solidFill>
                  <a:schemeClr val="tx1"/>
                </a:solidFill>
                <a:highlight>
                  <a:srgbClr val="FFFF00"/>
                </a:highlight>
              </a:rPr>
              <a:t>Quá trình huấn luyện annotators được thực hiện trong tổng cộng 7 vòng, với mỗi vòng thực hiện gán độc lập giữa 3 annotators trong 200 mẫu. (có lí do rõ ràng khi quyết định số mẫu được gán mỗi vòng).</a:t>
            </a:r>
          </a:p>
          <a:p>
            <a:r>
              <a:rPr lang="en-US" noProof="1">
                <a:solidFill>
                  <a:srgbClr val="FF0000"/>
                </a:solidFill>
              </a:rPr>
              <a:t>Kết thúc quá trình huấn luyện khi </a:t>
            </a:r>
            <a:r>
              <a:rPr lang="en-US" noProof="1">
                <a:solidFill>
                  <a:schemeClr val="tx1"/>
                </a:solidFill>
                <a:highlight>
                  <a:srgbClr val="FFFF00"/>
                </a:highlight>
              </a:rPr>
              <a:t>độ đồng thuận (IAA) giữa 3 annotators &gt; 0.8</a:t>
            </a:r>
            <a:r>
              <a:rPr lang="en-US" noProof="1">
                <a:solidFill>
                  <a:srgbClr val="FF0000"/>
                </a:solidFill>
              </a:rPr>
              <a:t> (có lí do rõ ràng khi quyết định con số IAA).</a:t>
            </a:r>
          </a:p>
        </p:txBody>
      </p:sp>
    </p:spTree>
    <p:extLst>
      <p:ext uri="{BB962C8B-B14F-4D97-AF65-F5344CB8AC3E}">
        <p14:creationId xmlns:p14="http://schemas.microsoft.com/office/powerpoint/2010/main" val="380997908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434D-2D9B-1171-6CA3-18CED8232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99F8C-D9E1-0874-E26C-F1FBDA831EEF}"/>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C268B594-6C06-6D4C-A691-5FE3728DACF0}"/>
              </a:ext>
            </a:extLst>
          </p:cNvPr>
          <p:cNvSpPr>
            <a:spLocks noGrp="1"/>
          </p:cNvSpPr>
          <p:nvPr>
            <p:ph idx="1"/>
          </p:nvPr>
        </p:nvSpPr>
        <p:spPr/>
        <p:txBody>
          <a:bodyPr/>
          <a:lstStyle/>
          <a:p>
            <a:r>
              <a:rPr lang="en-US" noProof="1"/>
              <a:t>Đảm bảo mỗi round có đủ “mẫu khó” để huấn luyện thật sự (không bị may rủi). </a:t>
            </a:r>
          </a:p>
          <a:p>
            <a:r>
              <a:rPr lang="en-US" noProof="1">
                <a:solidFill>
                  <a:srgbClr val="FF0000"/>
                </a:solidFill>
              </a:rPr>
              <a:t>Cho phép “đào tạo chống mindset drift” bằng cơ chế tái kiểm (retest).</a:t>
            </a:r>
          </a:p>
        </p:txBody>
      </p:sp>
    </p:spTree>
    <p:extLst>
      <p:ext uri="{BB962C8B-B14F-4D97-AF65-F5344CB8AC3E}">
        <p14:creationId xmlns:p14="http://schemas.microsoft.com/office/powerpoint/2010/main" val="216137315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4FCD3-DE5E-76A9-3E7D-943695EEB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0F394-50F2-2D5D-7D89-85D973E16730}"/>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995053DF-DC89-0F45-7BB1-FBD656E77747}"/>
              </a:ext>
            </a:extLst>
          </p:cNvPr>
          <p:cNvSpPr>
            <a:spLocks noGrp="1"/>
          </p:cNvSpPr>
          <p:nvPr>
            <p:ph idx="1"/>
          </p:nvPr>
        </p:nvSpPr>
        <p:spPr/>
        <p:txBody>
          <a:bodyPr/>
          <a:lstStyle/>
          <a:p>
            <a:r>
              <a:rPr lang="en-US" noProof="1"/>
              <a:t>Quá trình huấn luyện annotators được thực hiện trong </a:t>
            </a:r>
            <a:r>
              <a:rPr lang="en-US" noProof="1">
                <a:solidFill>
                  <a:schemeClr val="tx1"/>
                </a:solidFill>
                <a:highlight>
                  <a:srgbClr val="FFFF00"/>
                </a:highlight>
              </a:rPr>
              <a:t>tổng cộng 7 vòng</a:t>
            </a:r>
            <a:r>
              <a:rPr lang="en-US" noProof="1"/>
              <a:t>, với mỗi vòng thực hiện </a:t>
            </a:r>
            <a:r>
              <a:rPr lang="en-US" noProof="1">
                <a:solidFill>
                  <a:schemeClr val="tx1"/>
                </a:solidFill>
                <a:highlight>
                  <a:srgbClr val="FFFF00"/>
                </a:highlight>
              </a:rPr>
              <a:t>gán độc lập giữa 3 annotators</a:t>
            </a:r>
            <a:r>
              <a:rPr lang="en-US" noProof="1"/>
              <a:t> trong </a:t>
            </a:r>
            <a:r>
              <a:rPr lang="en-US" noProof="1">
                <a:solidFill>
                  <a:schemeClr val="tx1"/>
                </a:solidFill>
                <a:highlight>
                  <a:srgbClr val="FFFF00"/>
                </a:highlight>
              </a:rPr>
              <a:t>200 mẫu</a:t>
            </a:r>
            <a:r>
              <a:rPr lang="en-US" noProof="1"/>
              <a:t>. (có lí do rõ ràng khi quyết định số mẫu được gán mỗi vòng).</a:t>
            </a:r>
          </a:p>
          <a:p>
            <a:r>
              <a:rPr lang="en-US" noProof="1">
                <a:solidFill>
                  <a:schemeClr val="tx1"/>
                </a:solidFill>
                <a:highlight>
                  <a:srgbClr val="FFFF00"/>
                </a:highlight>
              </a:rPr>
              <a:t>Kết thúc quá trình huấn luyện khi độ đồng thuận (IAA) giữa 3 annotators &gt; 0.8 (có lí do rõ ràng khi quyết định con số IAA).</a:t>
            </a:r>
          </a:p>
        </p:txBody>
      </p:sp>
    </p:spTree>
    <p:extLst>
      <p:ext uri="{BB962C8B-B14F-4D97-AF65-F5344CB8AC3E}">
        <p14:creationId xmlns:p14="http://schemas.microsoft.com/office/powerpoint/2010/main" val="166030547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D2819-ABFB-EC64-8F6E-726BE5220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BB849-7F85-47D3-3736-CA4247938E1D}"/>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3B5E1F63-7183-7886-62D0-D3FAF8FEBBD3}"/>
              </a:ext>
            </a:extLst>
          </p:cNvPr>
          <p:cNvSpPr>
            <a:spLocks noGrp="1"/>
          </p:cNvSpPr>
          <p:nvPr>
            <p:ph idx="1"/>
          </p:nvPr>
        </p:nvSpPr>
        <p:spPr/>
        <p:txBody>
          <a:bodyPr/>
          <a:lstStyle/>
          <a:p>
            <a:r>
              <a:rPr lang="en-US" noProof="1"/>
              <a:t>Có “bất đồng không thể triệt tiêu” (irreducible ambiguity) trong tin báo chí.</a:t>
            </a:r>
          </a:p>
          <a:p>
            <a:pPr lvl="1"/>
            <a:r>
              <a:rPr lang="en-US" noProof="1">
                <a:solidFill>
                  <a:srgbClr val="FF0000"/>
                </a:solidFill>
              </a:rPr>
              <a:t>Ví dụ: “Nga tố NATO huy động số lượng lớn binh sĩ áp sát biên giới — Bộ trưởng Quốc phòng Nga Andrey Belousov cho biết, Tổ chức Hiệp ước Bắc Đại Tây Dương (NATO) đang duy trì sự hiện diện quân sự quy mô lớn gần biên giới Nga, đồng thời tăng cường các hoạt động huấn luyện và trinh sát.”</a:t>
            </a:r>
          </a:p>
          <a:p>
            <a:r>
              <a:rPr lang="en-US" noProof="1"/>
              <a:t>Kappa &gt; 0.8 là “đủ cao để tin được”, nhưng không đòi hỏi sự đồng thuận phi thực tế.</a:t>
            </a:r>
          </a:p>
        </p:txBody>
      </p:sp>
    </p:spTree>
    <p:extLst>
      <p:ext uri="{BB962C8B-B14F-4D97-AF65-F5344CB8AC3E}">
        <p14:creationId xmlns:p14="http://schemas.microsoft.com/office/powerpoint/2010/main" val="72608293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85AB3-C456-7AE5-8D9D-8F1D14E31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8388F-FEA5-F267-FAD2-531328FD5EAA}"/>
              </a:ext>
            </a:extLst>
          </p:cNvPr>
          <p:cNvSpPr>
            <a:spLocks noGrp="1"/>
          </p:cNvSpPr>
          <p:nvPr>
            <p:ph type="title"/>
          </p:nvPr>
        </p:nvSpPr>
        <p:spPr/>
        <p:txBody>
          <a:bodyPr/>
          <a:lstStyle/>
          <a:p>
            <a:r>
              <a:rPr lang="en-US" sz="4000" noProof="1"/>
              <a:t>Quy trình gán nhãn &amp; Kiểm soát chất lượng</a:t>
            </a:r>
          </a:p>
        </p:txBody>
      </p:sp>
      <p:graphicFrame>
        <p:nvGraphicFramePr>
          <p:cNvPr id="3" name="Content Placeholder 2">
            <a:extLst>
              <a:ext uri="{FF2B5EF4-FFF2-40B4-BE49-F238E27FC236}">
                <a16:creationId xmlns:a16="http://schemas.microsoft.com/office/drawing/2014/main" id="{C4434C63-9AFA-787C-58A9-94701DBA355D}"/>
              </a:ext>
            </a:extLst>
          </p:cNvPr>
          <p:cNvGraphicFramePr>
            <a:graphicFrameLocks noGrp="1"/>
          </p:cNvGraphicFramePr>
          <p:nvPr>
            <p:ph idx="1"/>
            <p:extLst>
              <p:ext uri="{D42A27DB-BD31-4B8C-83A1-F6EECF244321}">
                <p14:modId xmlns:p14="http://schemas.microsoft.com/office/powerpoint/2010/main" val="1136774082"/>
              </p:ext>
            </p:extLst>
          </p:nvPr>
        </p:nvGraphicFramePr>
        <p:xfrm>
          <a:off x="609600" y="1600200"/>
          <a:ext cx="10972800" cy="4267200"/>
        </p:xfrm>
        <a:graphic>
          <a:graphicData uri="http://schemas.openxmlformats.org/drawingml/2006/table">
            <a:tbl>
              <a:tblPr firstRow="1" bandRow="1">
                <a:tableStyleId>{5940675A-B579-460E-94D1-54222C63F5DA}</a:tableStyleId>
              </a:tblPr>
              <a:tblGrid>
                <a:gridCol w="5486400">
                  <a:extLst>
                    <a:ext uri="{9D8B030D-6E8A-4147-A177-3AD203B41FA5}">
                      <a16:colId xmlns:a16="http://schemas.microsoft.com/office/drawing/2014/main" val="1477191856"/>
                    </a:ext>
                  </a:extLst>
                </a:gridCol>
                <a:gridCol w="5486400">
                  <a:extLst>
                    <a:ext uri="{9D8B030D-6E8A-4147-A177-3AD203B41FA5}">
                      <a16:colId xmlns:a16="http://schemas.microsoft.com/office/drawing/2014/main" val="2195906871"/>
                    </a:ext>
                  </a:extLst>
                </a:gridCol>
              </a:tblGrid>
              <a:tr h="533400">
                <a:tc>
                  <a:txBody>
                    <a:bodyPr/>
                    <a:lstStyle/>
                    <a:p>
                      <a:pPr algn="ctr"/>
                      <a:r>
                        <a:rPr lang="en-US" i="0" noProof="1"/>
                        <a:t>Round</a:t>
                      </a:r>
                    </a:p>
                  </a:txBody>
                  <a:tcPr/>
                </a:tc>
                <a:tc>
                  <a:txBody>
                    <a:bodyPr/>
                    <a:lstStyle/>
                    <a:p>
                      <a:pPr algn="ctr"/>
                      <a:r>
                        <a:rPr lang="en-US" i="0" noProof="1"/>
                        <a:t>IAA</a:t>
                      </a:r>
                    </a:p>
                  </a:txBody>
                  <a:tcPr/>
                </a:tc>
                <a:extLst>
                  <a:ext uri="{0D108BD9-81ED-4DB2-BD59-A6C34878D82A}">
                    <a16:rowId xmlns:a16="http://schemas.microsoft.com/office/drawing/2014/main" val="2503683797"/>
                  </a:ext>
                </a:extLst>
              </a:tr>
              <a:tr h="533400">
                <a:tc>
                  <a:txBody>
                    <a:bodyPr/>
                    <a:lstStyle/>
                    <a:p>
                      <a:pPr algn="ctr"/>
                      <a:r>
                        <a:rPr lang="en-US" i="0" noProof="1"/>
                        <a:t>1</a:t>
                      </a:r>
                    </a:p>
                  </a:txBody>
                  <a:tcPr/>
                </a:tc>
                <a:tc>
                  <a:txBody>
                    <a:bodyPr/>
                    <a:lstStyle/>
                    <a:p>
                      <a:pPr algn="ctr"/>
                      <a:r>
                        <a:rPr lang="en-US" sz="1800" b="0" i="0" kern="1200" noProof="1">
                          <a:solidFill>
                            <a:schemeClr val="tx1"/>
                          </a:solidFill>
                          <a:effectLst/>
                          <a:latin typeface="+mn-lt"/>
                          <a:ea typeface="+mn-ea"/>
                          <a:cs typeface="+mn-cs"/>
                        </a:rPr>
                        <a:t>0.6353</a:t>
                      </a:r>
                      <a:endParaRPr lang="en-US" i="0" noProof="1"/>
                    </a:p>
                  </a:txBody>
                  <a:tcPr/>
                </a:tc>
                <a:extLst>
                  <a:ext uri="{0D108BD9-81ED-4DB2-BD59-A6C34878D82A}">
                    <a16:rowId xmlns:a16="http://schemas.microsoft.com/office/drawing/2014/main" val="960462977"/>
                  </a:ext>
                </a:extLst>
              </a:tr>
              <a:tr h="533400">
                <a:tc>
                  <a:txBody>
                    <a:bodyPr/>
                    <a:lstStyle/>
                    <a:p>
                      <a:pPr algn="ctr"/>
                      <a:r>
                        <a:rPr lang="en-US" i="0" noProof="1"/>
                        <a:t>2</a:t>
                      </a:r>
                    </a:p>
                  </a:txBody>
                  <a:tcPr/>
                </a:tc>
                <a:tc>
                  <a:txBody>
                    <a:bodyPr/>
                    <a:lstStyle/>
                    <a:p>
                      <a:pPr algn="ctr"/>
                      <a:r>
                        <a:rPr lang="en-US" sz="1800" b="0" i="0" kern="1200" noProof="1">
                          <a:solidFill>
                            <a:schemeClr val="tx1"/>
                          </a:solidFill>
                          <a:effectLst/>
                          <a:latin typeface="+mn-lt"/>
                          <a:ea typeface="+mn-ea"/>
                          <a:cs typeface="+mn-cs"/>
                        </a:rPr>
                        <a:t>0.6576</a:t>
                      </a:r>
                      <a:endParaRPr lang="en-US" i="0" noProof="1"/>
                    </a:p>
                  </a:txBody>
                  <a:tcPr/>
                </a:tc>
                <a:extLst>
                  <a:ext uri="{0D108BD9-81ED-4DB2-BD59-A6C34878D82A}">
                    <a16:rowId xmlns:a16="http://schemas.microsoft.com/office/drawing/2014/main" val="123149342"/>
                  </a:ext>
                </a:extLst>
              </a:tr>
              <a:tr h="533400">
                <a:tc>
                  <a:txBody>
                    <a:bodyPr/>
                    <a:lstStyle/>
                    <a:p>
                      <a:pPr algn="ctr"/>
                      <a:r>
                        <a:rPr lang="en-US" i="0" noProof="1"/>
                        <a:t>3</a:t>
                      </a:r>
                    </a:p>
                  </a:txBody>
                  <a:tcPr/>
                </a:tc>
                <a:tc>
                  <a:txBody>
                    <a:bodyPr/>
                    <a:lstStyle/>
                    <a:p>
                      <a:pPr algn="ctr"/>
                      <a:r>
                        <a:rPr lang="en-US" sz="1800" b="0" i="0" kern="1200" noProof="1">
                          <a:solidFill>
                            <a:schemeClr val="tx1"/>
                          </a:solidFill>
                          <a:effectLst/>
                          <a:latin typeface="+mn-lt"/>
                          <a:ea typeface="+mn-ea"/>
                          <a:cs typeface="+mn-cs"/>
                        </a:rPr>
                        <a:t>0.6671</a:t>
                      </a:r>
                      <a:endParaRPr lang="en-US" i="0" noProof="1"/>
                    </a:p>
                  </a:txBody>
                  <a:tcPr/>
                </a:tc>
                <a:extLst>
                  <a:ext uri="{0D108BD9-81ED-4DB2-BD59-A6C34878D82A}">
                    <a16:rowId xmlns:a16="http://schemas.microsoft.com/office/drawing/2014/main" val="3541030719"/>
                  </a:ext>
                </a:extLst>
              </a:tr>
              <a:tr h="533400">
                <a:tc>
                  <a:txBody>
                    <a:bodyPr/>
                    <a:lstStyle/>
                    <a:p>
                      <a:pPr algn="ctr"/>
                      <a:r>
                        <a:rPr lang="en-US" i="0" noProof="1"/>
                        <a:t>4</a:t>
                      </a:r>
                    </a:p>
                  </a:txBody>
                  <a:tcPr/>
                </a:tc>
                <a:tc>
                  <a:txBody>
                    <a:bodyPr/>
                    <a:lstStyle/>
                    <a:p>
                      <a:pPr algn="ctr"/>
                      <a:r>
                        <a:rPr lang="en-US" sz="1800" b="0" i="0" kern="1200" noProof="1">
                          <a:solidFill>
                            <a:schemeClr val="tx1"/>
                          </a:solidFill>
                          <a:effectLst/>
                          <a:latin typeface="+mn-lt"/>
                          <a:ea typeface="+mn-ea"/>
                          <a:cs typeface="+mn-cs"/>
                        </a:rPr>
                        <a:t>0.7035</a:t>
                      </a:r>
                      <a:endParaRPr lang="en-US" i="0" noProof="1"/>
                    </a:p>
                  </a:txBody>
                  <a:tcPr/>
                </a:tc>
                <a:extLst>
                  <a:ext uri="{0D108BD9-81ED-4DB2-BD59-A6C34878D82A}">
                    <a16:rowId xmlns:a16="http://schemas.microsoft.com/office/drawing/2014/main" val="4207456112"/>
                  </a:ext>
                </a:extLst>
              </a:tr>
              <a:tr h="533400">
                <a:tc>
                  <a:txBody>
                    <a:bodyPr/>
                    <a:lstStyle/>
                    <a:p>
                      <a:pPr algn="ctr"/>
                      <a:r>
                        <a:rPr lang="en-US" i="0" noProof="1"/>
                        <a:t>5</a:t>
                      </a:r>
                    </a:p>
                  </a:txBody>
                  <a:tcPr/>
                </a:tc>
                <a:tc>
                  <a:txBody>
                    <a:bodyPr/>
                    <a:lstStyle/>
                    <a:p>
                      <a:pPr algn="ctr"/>
                      <a:r>
                        <a:rPr lang="en-US" sz="1800" b="0" i="0" kern="1200" noProof="1">
                          <a:solidFill>
                            <a:schemeClr val="tx1"/>
                          </a:solidFill>
                          <a:effectLst/>
                          <a:latin typeface="+mn-lt"/>
                          <a:ea typeface="+mn-ea"/>
                          <a:cs typeface="+mn-cs"/>
                        </a:rPr>
                        <a:t>0.7265</a:t>
                      </a:r>
                      <a:endParaRPr lang="en-US" i="0" noProof="1"/>
                    </a:p>
                  </a:txBody>
                  <a:tcPr/>
                </a:tc>
                <a:extLst>
                  <a:ext uri="{0D108BD9-81ED-4DB2-BD59-A6C34878D82A}">
                    <a16:rowId xmlns:a16="http://schemas.microsoft.com/office/drawing/2014/main" val="4092646308"/>
                  </a:ext>
                </a:extLst>
              </a:tr>
              <a:tr h="533400">
                <a:tc>
                  <a:txBody>
                    <a:bodyPr/>
                    <a:lstStyle/>
                    <a:p>
                      <a:pPr algn="ctr"/>
                      <a:r>
                        <a:rPr lang="en-US" i="0" noProof="1"/>
                        <a:t>6</a:t>
                      </a:r>
                    </a:p>
                  </a:txBody>
                  <a:tcPr/>
                </a:tc>
                <a:tc>
                  <a:txBody>
                    <a:bodyPr/>
                    <a:lstStyle/>
                    <a:p>
                      <a:pPr algn="ctr"/>
                      <a:r>
                        <a:rPr lang="en-US" sz="1800" b="0" i="0" kern="1200" noProof="1">
                          <a:solidFill>
                            <a:schemeClr val="tx1"/>
                          </a:solidFill>
                          <a:effectLst/>
                          <a:latin typeface="+mn-lt"/>
                          <a:ea typeface="+mn-ea"/>
                          <a:cs typeface="+mn-cs"/>
                        </a:rPr>
                        <a:t>0.7517</a:t>
                      </a:r>
                      <a:endParaRPr lang="en-US" i="0" noProof="1"/>
                    </a:p>
                  </a:txBody>
                  <a:tcPr/>
                </a:tc>
                <a:extLst>
                  <a:ext uri="{0D108BD9-81ED-4DB2-BD59-A6C34878D82A}">
                    <a16:rowId xmlns:a16="http://schemas.microsoft.com/office/drawing/2014/main" val="2003236114"/>
                  </a:ext>
                </a:extLst>
              </a:tr>
              <a:tr h="533400">
                <a:tc>
                  <a:txBody>
                    <a:bodyPr/>
                    <a:lstStyle/>
                    <a:p>
                      <a:pPr algn="ctr"/>
                      <a:r>
                        <a:rPr lang="en-US" i="0" noProof="1"/>
                        <a:t>7</a:t>
                      </a:r>
                    </a:p>
                  </a:txBody>
                  <a:tcPr/>
                </a:tc>
                <a:tc>
                  <a:txBody>
                    <a:bodyPr/>
                    <a:lstStyle/>
                    <a:p>
                      <a:pPr algn="ctr"/>
                      <a:r>
                        <a:rPr lang="en-US" sz="1800" b="0" i="0" kern="1200" noProof="1">
                          <a:solidFill>
                            <a:srgbClr val="FF0000"/>
                          </a:solidFill>
                          <a:effectLst/>
                          <a:latin typeface="+mn-lt"/>
                          <a:ea typeface="+mn-ea"/>
                          <a:cs typeface="+mn-cs"/>
                        </a:rPr>
                        <a:t>0.8055</a:t>
                      </a:r>
                      <a:endParaRPr lang="en-US" i="0" noProof="1">
                        <a:solidFill>
                          <a:srgbClr val="FF0000"/>
                        </a:solidFill>
                      </a:endParaRPr>
                    </a:p>
                  </a:txBody>
                  <a:tcPr/>
                </a:tc>
                <a:extLst>
                  <a:ext uri="{0D108BD9-81ED-4DB2-BD59-A6C34878D82A}">
                    <a16:rowId xmlns:a16="http://schemas.microsoft.com/office/drawing/2014/main" val="717382957"/>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85858E1-5152-4BC0-C331-98F6CC029CD7}"/>
                  </a:ext>
                </a:extLst>
              </p:cNvPr>
              <p:cNvSpPr txBox="1"/>
              <p:nvPr/>
            </p:nvSpPr>
            <p:spPr>
              <a:xfrm>
                <a:off x="3505200" y="5334000"/>
                <a:ext cx="1596912" cy="369332"/>
              </a:xfrm>
              <a:prstGeom prst="rect">
                <a:avLst/>
              </a:prstGeom>
              <a:noFill/>
            </p:spPr>
            <p:txBody>
              <a:bodyPr wrap="none" rtlCol="0">
                <a:spAutoFit/>
              </a:bodyPr>
              <a:lstStyle/>
              <a:p>
                <a14:m>
                  <m:oMath xmlns:m="http://schemas.openxmlformats.org/officeDocument/2006/math">
                    <m:r>
                      <a:rPr lang="en-US" i="1" noProof="1" dirty="0" smtClean="0">
                        <a:solidFill>
                          <a:srgbClr val="FF0000"/>
                        </a:solidFill>
                        <a:latin typeface="Cambria Math" panose="02040503050406030204" pitchFamily="18" charset="0"/>
                        <a:ea typeface="Cambria Math" panose="02040503050406030204" pitchFamily="18" charset="0"/>
                      </a:rPr>
                      <m:t>→</m:t>
                    </m:r>
                  </m:oMath>
                </a14:m>
                <a:r>
                  <a:rPr lang="en-US" noProof="1">
                    <a:solidFill>
                      <a:srgbClr val="FF0000"/>
                    </a:solidFill>
                  </a:rPr>
                  <a:t> Final round</a:t>
                </a:r>
                <a:endParaRPr lang="en-US" noProof="1"/>
              </a:p>
            </p:txBody>
          </p:sp>
        </mc:Choice>
        <mc:Fallback xmlns="">
          <p:sp>
            <p:nvSpPr>
              <p:cNvPr id="5" name="TextBox 4">
                <a:extLst>
                  <a:ext uri="{FF2B5EF4-FFF2-40B4-BE49-F238E27FC236}">
                    <a16:creationId xmlns:a16="http://schemas.microsoft.com/office/drawing/2014/main" id="{B85858E1-5152-4BC0-C331-98F6CC029CD7}"/>
                  </a:ext>
                </a:extLst>
              </p:cNvPr>
              <p:cNvSpPr txBox="1">
                <a:spLocks noRot="1" noChangeAspect="1" noMove="1" noResize="1" noEditPoints="1" noAdjustHandles="1" noChangeArrowheads="1" noChangeShapeType="1" noTextEdit="1"/>
              </p:cNvSpPr>
              <p:nvPr/>
            </p:nvSpPr>
            <p:spPr>
              <a:xfrm>
                <a:off x="3505200" y="5334000"/>
                <a:ext cx="1596912" cy="369332"/>
              </a:xfrm>
              <a:prstGeom prst="rect">
                <a:avLst/>
              </a:prstGeom>
              <a:blipFill>
                <a:blip r:embed="rId2"/>
                <a:stretch>
                  <a:fillRect t="-8197" r="-2672" b="-24590"/>
                </a:stretch>
              </a:blipFill>
            </p:spPr>
            <p:txBody>
              <a:bodyPr/>
              <a:lstStyle/>
              <a:p>
                <a:r>
                  <a:rPr lang="vi-VN">
                    <a:noFill/>
                  </a:rPr>
                  <a:t> </a:t>
                </a:r>
              </a:p>
            </p:txBody>
          </p:sp>
        </mc:Fallback>
      </mc:AlternateContent>
    </p:spTree>
    <p:extLst>
      <p:ext uri="{BB962C8B-B14F-4D97-AF65-F5344CB8AC3E}">
        <p14:creationId xmlns:p14="http://schemas.microsoft.com/office/powerpoint/2010/main" val="390381168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23295-F1BD-4F55-7DDB-AF4EB4CC4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45735-1EF8-6B8A-0741-A8C62923E0EA}"/>
              </a:ext>
            </a:extLst>
          </p:cNvPr>
          <p:cNvSpPr>
            <a:spLocks noGrp="1"/>
          </p:cNvSpPr>
          <p:nvPr>
            <p:ph type="title"/>
          </p:nvPr>
        </p:nvSpPr>
        <p:spPr/>
        <p:txBody>
          <a:bodyPr/>
          <a:lstStyle/>
          <a:p>
            <a:r>
              <a:rPr lang="en-US" sz="4000" noProof="1"/>
              <a:t>Quy trình gán nhãn &amp; Kiểm soát chất lượng</a:t>
            </a:r>
          </a:p>
        </p:txBody>
      </p:sp>
      <p:graphicFrame>
        <p:nvGraphicFramePr>
          <p:cNvPr id="3" name="Content Placeholder 2">
            <a:extLst>
              <a:ext uri="{FF2B5EF4-FFF2-40B4-BE49-F238E27FC236}">
                <a16:creationId xmlns:a16="http://schemas.microsoft.com/office/drawing/2014/main" id="{6129E609-185C-5BE1-5523-75AFCADFD0F3}"/>
              </a:ext>
            </a:extLst>
          </p:cNvPr>
          <p:cNvGraphicFramePr>
            <a:graphicFrameLocks noGrp="1"/>
          </p:cNvGraphicFramePr>
          <p:nvPr>
            <p:ph idx="1"/>
            <p:extLst>
              <p:ext uri="{D42A27DB-BD31-4B8C-83A1-F6EECF244321}">
                <p14:modId xmlns:p14="http://schemas.microsoft.com/office/powerpoint/2010/main" val="1507262906"/>
              </p:ext>
            </p:extLst>
          </p:nvPr>
        </p:nvGraphicFramePr>
        <p:xfrm>
          <a:off x="609600" y="1600200"/>
          <a:ext cx="10972800" cy="4267200"/>
        </p:xfrm>
        <a:graphic>
          <a:graphicData uri="http://schemas.openxmlformats.org/drawingml/2006/table">
            <a:tbl>
              <a:tblPr firstRow="1" bandRow="1">
                <a:tableStyleId>{5940675A-B579-460E-94D1-54222C63F5DA}</a:tableStyleId>
              </a:tblPr>
              <a:tblGrid>
                <a:gridCol w="5486400">
                  <a:extLst>
                    <a:ext uri="{9D8B030D-6E8A-4147-A177-3AD203B41FA5}">
                      <a16:colId xmlns:a16="http://schemas.microsoft.com/office/drawing/2014/main" val="1477191856"/>
                    </a:ext>
                  </a:extLst>
                </a:gridCol>
                <a:gridCol w="5486400">
                  <a:extLst>
                    <a:ext uri="{9D8B030D-6E8A-4147-A177-3AD203B41FA5}">
                      <a16:colId xmlns:a16="http://schemas.microsoft.com/office/drawing/2014/main" val="2195906871"/>
                    </a:ext>
                  </a:extLst>
                </a:gridCol>
              </a:tblGrid>
              <a:tr h="533400">
                <a:tc>
                  <a:txBody>
                    <a:bodyPr/>
                    <a:lstStyle/>
                    <a:p>
                      <a:pPr algn="ctr"/>
                      <a:r>
                        <a:rPr lang="en-US" i="0" noProof="1"/>
                        <a:t>Round</a:t>
                      </a:r>
                    </a:p>
                  </a:txBody>
                  <a:tcPr/>
                </a:tc>
                <a:tc>
                  <a:txBody>
                    <a:bodyPr/>
                    <a:lstStyle/>
                    <a:p>
                      <a:pPr algn="ctr"/>
                      <a:r>
                        <a:rPr lang="en-US" i="0" noProof="1"/>
                        <a:t>IAA</a:t>
                      </a:r>
                    </a:p>
                  </a:txBody>
                  <a:tcPr/>
                </a:tc>
                <a:extLst>
                  <a:ext uri="{0D108BD9-81ED-4DB2-BD59-A6C34878D82A}">
                    <a16:rowId xmlns:a16="http://schemas.microsoft.com/office/drawing/2014/main" val="2503683797"/>
                  </a:ext>
                </a:extLst>
              </a:tr>
              <a:tr h="533400">
                <a:tc>
                  <a:txBody>
                    <a:bodyPr/>
                    <a:lstStyle/>
                    <a:p>
                      <a:pPr algn="ctr"/>
                      <a:r>
                        <a:rPr lang="en-US" i="0" noProof="1"/>
                        <a:t>1</a:t>
                      </a:r>
                    </a:p>
                  </a:txBody>
                  <a:tcPr/>
                </a:tc>
                <a:tc>
                  <a:txBody>
                    <a:bodyPr/>
                    <a:lstStyle/>
                    <a:p>
                      <a:pPr algn="ctr"/>
                      <a:r>
                        <a:rPr lang="en-US" sz="1800" b="0" i="0" kern="1200" noProof="1">
                          <a:solidFill>
                            <a:schemeClr val="tx1"/>
                          </a:solidFill>
                          <a:effectLst/>
                          <a:latin typeface="+mn-lt"/>
                          <a:ea typeface="+mn-ea"/>
                          <a:cs typeface="+mn-cs"/>
                        </a:rPr>
                        <a:t>0.6353</a:t>
                      </a:r>
                      <a:endParaRPr lang="en-US" i="0" noProof="1"/>
                    </a:p>
                  </a:txBody>
                  <a:tcPr/>
                </a:tc>
                <a:extLst>
                  <a:ext uri="{0D108BD9-81ED-4DB2-BD59-A6C34878D82A}">
                    <a16:rowId xmlns:a16="http://schemas.microsoft.com/office/drawing/2014/main" val="960462977"/>
                  </a:ext>
                </a:extLst>
              </a:tr>
              <a:tr h="533400">
                <a:tc>
                  <a:txBody>
                    <a:bodyPr/>
                    <a:lstStyle/>
                    <a:p>
                      <a:pPr algn="ctr"/>
                      <a:r>
                        <a:rPr lang="en-US" i="0" noProof="1"/>
                        <a:t>2</a:t>
                      </a:r>
                    </a:p>
                  </a:txBody>
                  <a:tcPr/>
                </a:tc>
                <a:tc>
                  <a:txBody>
                    <a:bodyPr/>
                    <a:lstStyle/>
                    <a:p>
                      <a:pPr algn="ctr"/>
                      <a:r>
                        <a:rPr lang="en-US" sz="1800" b="0" i="0" kern="1200" noProof="1">
                          <a:solidFill>
                            <a:schemeClr val="tx1"/>
                          </a:solidFill>
                          <a:effectLst/>
                          <a:latin typeface="+mn-lt"/>
                          <a:ea typeface="+mn-ea"/>
                          <a:cs typeface="+mn-cs"/>
                        </a:rPr>
                        <a:t>0.6576</a:t>
                      </a:r>
                      <a:endParaRPr lang="en-US" i="0" noProof="1"/>
                    </a:p>
                  </a:txBody>
                  <a:tcPr/>
                </a:tc>
                <a:extLst>
                  <a:ext uri="{0D108BD9-81ED-4DB2-BD59-A6C34878D82A}">
                    <a16:rowId xmlns:a16="http://schemas.microsoft.com/office/drawing/2014/main" val="123149342"/>
                  </a:ext>
                </a:extLst>
              </a:tr>
              <a:tr h="533400">
                <a:tc>
                  <a:txBody>
                    <a:bodyPr/>
                    <a:lstStyle/>
                    <a:p>
                      <a:pPr algn="ctr"/>
                      <a:r>
                        <a:rPr lang="en-US" i="0" noProof="1"/>
                        <a:t>3</a:t>
                      </a:r>
                    </a:p>
                  </a:txBody>
                  <a:tcPr/>
                </a:tc>
                <a:tc>
                  <a:txBody>
                    <a:bodyPr/>
                    <a:lstStyle/>
                    <a:p>
                      <a:pPr algn="ctr"/>
                      <a:r>
                        <a:rPr lang="en-US" sz="1800" b="0" i="0" kern="1200" noProof="1">
                          <a:solidFill>
                            <a:schemeClr val="tx1"/>
                          </a:solidFill>
                          <a:effectLst/>
                          <a:latin typeface="+mn-lt"/>
                          <a:ea typeface="+mn-ea"/>
                          <a:cs typeface="+mn-cs"/>
                        </a:rPr>
                        <a:t>0.6671</a:t>
                      </a:r>
                      <a:endParaRPr lang="en-US" i="0" noProof="1"/>
                    </a:p>
                  </a:txBody>
                  <a:tcPr/>
                </a:tc>
                <a:extLst>
                  <a:ext uri="{0D108BD9-81ED-4DB2-BD59-A6C34878D82A}">
                    <a16:rowId xmlns:a16="http://schemas.microsoft.com/office/drawing/2014/main" val="3541030719"/>
                  </a:ext>
                </a:extLst>
              </a:tr>
              <a:tr h="533400">
                <a:tc>
                  <a:txBody>
                    <a:bodyPr/>
                    <a:lstStyle/>
                    <a:p>
                      <a:pPr algn="ctr"/>
                      <a:r>
                        <a:rPr lang="en-US" i="0" noProof="1"/>
                        <a:t>4</a:t>
                      </a:r>
                    </a:p>
                  </a:txBody>
                  <a:tcPr/>
                </a:tc>
                <a:tc>
                  <a:txBody>
                    <a:bodyPr/>
                    <a:lstStyle/>
                    <a:p>
                      <a:pPr algn="ctr"/>
                      <a:r>
                        <a:rPr lang="en-US" sz="1800" b="0" i="0" kern="1200" noProof="1">
                          <a:solidFill>
                            <a:schemeClr val="tx1"/>
                          </a:solidFill>
                          <a:effectLst/>
                          <a:latin typeface="+mn-lt"/>
                          <a:ea typeface="+mn-ea"/>
                          <a:cs typeface="+mn-cs"/>
                        </a:rPr>
                        <a:t>0.7035</a:t>
                      </a:r>
                      <a:endParaRPr lang="en-US" i="0" noProof="1"/>
                    </a:p>
                  </a:txBody>
                  <a:tcPr/>
                </a:tc>
                <a:extLst>
                  <a:ext uri="{0D108BD9-81ED-4DB2-BD59-A6C34878D82A}">
                    <a16:rowId xmlns:a16="http://schemas.microsoft.com/office/drawing/2014/main" val="4207456112"/>
                  </a:ext>
                </a:extLst>
              </a:tr>
              <a:tr h="533400">
                <a:tc>
                  <a:txBody>
                    <a:bodyPr/>
                    <a:lstStyle/>
                    <a:p>
                      <a:pPr algn="ctr"/>
                      <a:r>
                        <a:rPr lang="en-US" i="0" noProof="1"/>
                        <a:t>5</a:t>
                      </a:r>
                    </a:p>
                  </a:txBody>
                  <a:tcPr/>
                </a:tc>
                <a:tc>
                  <a:txBody>
                    <a:bodyPr/>
                    <a:lstStyle/>
                    <a:p>
                      <a:pPr algn="ctr"/>
                      <a:r>
                        <a:rPr lang="en-US" sz="1800" b="0" i="0" kern="1200" noProof="1">
                          <a:solidFill>
                            <a:schemeClr val="tx1"/>
                          </a:solidFill>
                          <a:effectLst/>
                          <a:latin typeface="+mn-lt"/>
                          <a:ea typeface="+mn-ea"/>
                          <a:cs typeface="+mn-cs"/>
                        </a:rPr>
                        <a:t>0.7265</a:t>
                      </a:r>
                      <a:endParaRPr lang="en-US" i="0" noProof="1"/>
                    </a:p>
                  </a:txBody>
                  <a:tcPr/>
                </a:tc>
                <a:extLst>
                  <a:ext uri="{0D108BD9-81ED-4DB2-BD59-A6C34878D82A}">
                    <a16:rowId xmlns:a16="http://schemas.microsoft.com/office/drawing/2014/main" val="4092646308"/>
                  </a:ext>
                </a:extLst>
              </a:tr>
              <a:tr h="533400">
                <a:tc>
                  <a:txBody>
                    <a:bodyPr/>
                    <a:lstStyle/>
                    <a:p>
                      <a:pPr algn="ctr"/>
                      <a:r>
                        <a:rPr lang="en-US" i="0" noProof="1"/>
                        <a:t>6</a:t>
                      </a:r>
                    </a:p>
                  </a:txBody>
                  <a:tcPr/>
                </a:tc>
                <a:tc>
                  <a:txBody>
                    <a:bodyPr/>
                    <a:lstStyle/>
                    <a:p>
                      <a:pPr algn="ctr"/>
                      <a:r>
                        <a:rPr lang="en-US" sz="1800" b="0" i="0" kern="1200" noProof="1">
                          <a:solidFill>
                            <a:schemeClr val="tx1"/>
                          </a:solidFill>
                          <a:effectLst/>
                          <a:latin typeface="+mn-lt"/>
                          <a:ea typeface="+mn-ea"/>
                          <a:cs typeface="+mn-cs"/>
                        </a:rPr>
                        <a:t>0.7517</a:t>
                      </a:r>
                      <a:endParaRPr lang="en-US" i="0" noProof="1"/>
                    </a:p>
                  </a:txBody>
                  <a:tcPr/>
                </a:tc>
                <a:extLst>
                  <a:ext uri="{0D108BD9-81ED-4DB2-BD59-A6C34878D82A}">
                    <a16:rowId xmlns:a16="http://schemas.microsoft.com/office/drawing/2014/main" val="2003236114"/>
                  </a:ext>
                </a:extLst>
              </a:tr>
              <a:tr h="533400">
                <a:tc>
                  <a:txBody>
                    <a:bodyPr/>
                    <a:lstStyle/>
                    <a:p>
                      <a:pPr algn="ctr"/>
                      <a:r>
                        <a:rPr lang="en-US" i="0" noProof="1"/>
                        <a:t>7</a:t>
                      </a:r>
                    </a:p>
                  </a:txBody>
                  <a:tcPr/>
                </a:tc>
                <a:tc>
                  <a:txBody>
                    <a:bodyPr/>
                    <a:lstStyle/>
                    <a:p>
                      <a:pPr algn="ctr"/>
                      <a:r>
                        <a:rPr lang="en-US" sz="1800" b="0" i="0" kern="1200" noProof="1">
                          <a:solidFill>
                            <a:srgbClr val="FF0000"/>
                          </a:solidFill>
                          <a:effectLst/>
                          <a:latin typeface="+mn-lt"/>
                          <a:ea typeface="+mn-ea"/>
                          <a:cs typeface="+mn-cs"/>
                        </a:rPr>
                        <a:t>0.8055</a:t>
                      </a:r>
                      <a:endParaRPr lang="en-US" i="0" noProof="1">
                        <a:solidFill>
                          <a:srgbClr val="FF0000"/>
                        </a:solidFill>
                      </a:endParaRPr>
                    </a:p>
                  </a:txBody>
                  <a:tcPr/>
                </a:tc>
                <a:extLst>
                  <a:ext uri="{0D108BD9-81ED-4DB2-BD59-A6C34878D82A}">
                    <a16:rowId xmlns:a16="http://schemas.microsoft.com/office/drawing/2014/main" val="717382957"/>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F7FE3A4-F96B-A2A5-7240-1AC7F9B855EB}"/>
                  </a:ext>
                </a:extLst>
              </p:cNvPr>
              <p:cNvSpPr txBox="1"/>
              <p:nvPr/>
            </p:nvSpPr>
            <p:spPr>
              <a:xfrm>
                <a:off x="3505200" y="5334000"/>
                <a:ext cx="1596912" cy="369332"/>
              </a:xfrm>
              <a:prstGeom prst="rect">
                <a:avLst/>
              </a:prstGeom>
              <a:noFill/>
            </p:spPr>
            <p:txBody>
              <a:bodyPr wrap="none" rtlCol="0">
                <a:spAutoFit/>
              </a:bodyPr>
              <a:lstStyle/>
              <a:p>
                <a14:m>
                  <m:oMath xmlns:m="http://schemas.openxmlformats.org/officeDocument/2006/math">
                    <m:r>
                      <a:rPr lang="en-US" i="1" noProof="1" dirty="0" smtClean="0">
                        <a:solidFill>
                          <a:srgbClr val="FF0000"/>
                        </a:solidFill>
                        <a:latin typeface="Cambria Math" panose="02040503050406030204" pitchFamily="18" charset="0"/>
                        <a:ea typeface="Cambria Math" panose="02040503050406030204" pitchFamily="18" charset="0"/>
                      </a:rPr>
                      <m:t>→</m:t>
                    </m:r>
                  </m:oMath>
                </a14:m>
                <a:r>
                  <a:rPr lang="en-US" noProof="1">
                    <a:solidFill>
                      <a:srgbClr val="FF0000"/>
                    </a:solidFill>
                  </a:rPr>
                  <a:t> Final round</a:t>
                </a:r>
                <a:endParaRPr lang="en-US" noProof="1"/>
              </a:p>
            </p:txBody>
          </p:sp>
        </mc:Choice>
        <mc:Fallback xmlns="">
          <p:sp>
            <p:nvSpPr>
              <p:cNvPr id="5" name="TextBox 4">
                <a:extLst>
                  <a:ext uri="{FF2B5EF4-FFF2-40B4-BE49-F238E27FC236}">
                    <a16:creationId xmlns:a16="http://schemas.microsoft.com/office/drawing/2014/main" id="{BF7FE3A4-F96B-A2A5-7240-1AC7F9B855EB}"/>
                  </a:ext>
                </a:extLst>
              </p:cNvPr>
              <p:cNvSpPr txBox="1">
                <a:spLocks noRot="1" noChangeAspect="1" noMove="1" noResize="1" noEditPoints="1" noAdjustHandles="1" noChangeArrowheads="1" noChangeShapeType="1" noTextEdit="1"/>
              </p:cNvSpPr>
              <p:nvPr/>
            </p:nvSpPr>
            <p:spPr>
              <a:xfrm>
                <a:off x="3505200" y="5334000"/>
                <a:ext cx="1596912" cy="369332"/>
              </a:xfrm>
              <a:prstGeom prst="rect">
                <a:avLst/>
              </a:prstGeom>
              <a:blipFill>
                <a:blip r:embed="rId2"/>
                <a:stretch>
                  <a:fillRect t="-8197" r="-2672" b="-24590"/>
                </a:stretch>
              </a:blipFill>
            </p:spPr>
            <p:txBody>
              <a:bodyPr/>
              <a:lstStyle/>
              <a:p>
                <a:r>
                  <a:rPr lang="vi-VN">
                    <a:noFill/>
                  </a:rPr>
                  <a:t> </a:t>
                </a:r>
              </a:p>
            </p:txBody>
          </p:sp>
        </mc:Fallback>
      </mc:AlternateContent>
      <p:sp>
        <p:nvSpPr>
          <p:cNvPr id="12" name="Right Brace 11">
            <a:extLst>
              <a:ext uri="{FF2B5EF4-FFF2-40B4-BE49-F238E27FC236}">
                <a16:creationId xmlns:a16="http://schemas.microsoft.com/office/drawing/2014/main" id="{8199C886-DA0D-2710-964A-A73BA0230B94}"/>
              </a:ext>
            </a:extLst>
          </p:cNvPr>
          <p:cNvSpPr/>
          <p:nvPr/>
        </p:nvSpPr>
        <p:spPr>
          <a:xfrm>
            <a:off x="9372600" y="2209800"/>
            <a:ext cx="381000" cy="1447800"/>
          </a:xfrm>
          <a:prstGeom prst="rightBrace">
            <a:avLst>
              <a:gd name="adj1" fmla="val 8333"/>
              <a:gd name="adj2" fmla="val 47918"/>
            </a:avLst>
          </a:prstGeom>
          <a:ln w="285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1"/>
          </a:p>
        </p:txBody>
      </p:sp>
      <p:sp>
        <p:nvSpPr>
          <p:cNvPr id="13" name="Right Brace 12">
            <a:extLst>
              <a:ext uri="{FF2B5EF4-FFF2-40B4-BE49-F238E27FC236}">
                <a16:creationId xmlns:a16="http://schemas.microsoft.com/office/drawing/2014/main" id="{39780EA6-745B-D314-F037-3791BC777E41}"/>
              </a:ext>
            </a:extLst>
          </p:cNvPr>
          <p:cNvSpPr/>
          <p:nvPr/>
        </p:nvSpPr>
        <p:spPr>
          <a:xfrm>
            <a:off x="9399396" y="3876152"/>
            <a:ext cx="381000" cy="1762648"/>
          </a:xfrm>
          <a:prstGeom prst="rightBrace">
            <a:avLst>
              <a:gd name="adj1" fmla="val 8333"/>
              <a:gd name="adj2" fmla="val 47918"/>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1"/>
          </a:p>
        </p:txBody>
      </p:sp>
      <p:sp>
        <p:nvSpPr>
          <p:cNvPr id="14" name="TextBox 13">
            <a:extLst>
              <a:ext uri="{FF2B5EF4-FFF2-40B4-BE49-F238E27FC236}">
                <a16:creationId xmlns:a16="http://schemas.microsoft.com/office/drawing/2014/main" id="{F616C0EE-4824-2B91-FC7B-AC99273EB51C}"/>
              </a:ext>
            </a:extLst>
          </p:cNvPr>
          <p:cNvSpPr txBox="1"/>
          <p:nvPr/>
        </p:nvSpPr>
        <p:spPr>
          <a:xfrm>
            <a:off x="9906000" y="2590800"/>
            <a:ext cx="1447800" cy="923330"/>
          </a:xfrm>
          <a:prstGeom prst="rect">
            <a:avLst/>
          </a:prstGeom>
          <a:noFill/>
        </p:spPr>
        <p:txBody>
          <a:bodyPr wrap="square" rtlCol="0">
            <a:spAutoFit/>
          </a:bodyPr>
          <a:lstStyle/>
          <a:p>
            <a:pPr algn="just"/>
            <a:r>
              <a:rPr lang="en-US" noProof="1">
                <a:solidFill>
                  <a:srgbClr val="FF0000"/>
                </a:solidFill>
              </a:rPr>
              <a:t>Giai đoạn chuyển biến nhẹ.</a:t>
            </a:r>
          </a:p>
        </p:txBody>
      </p:sp>
      <p:sp>
        <p:nvSpPr>
          <p:cNvPr id="15" name="TextBox 14">
            <a:extLst>
              <a:ext uri="{FF2B5EF4-FFF2-40B4-BE49-F238E27FC236}">
                <a16:creationId xmlns:a16="http://schemas.microsoft.com/office/drawing/2014/main" id="{2F750437-FC09-EF36-80B5-3A998FCE026E}"/>
              </a:ext>
            </a:extLst>
          </p:cNvPr>
          <p:cNvSpPr txBox="1"/>
          <p:nvPr/>
        </p:nvSpPr>
        <p:spPr>
          <a:xfrm>
            <a:off x="9906000" y="4229100"/>
            <a:ext cx="1447800" cy="923330"/>
          </a:xfrm>
          <a:prstGeom prst="rect">
            <a:avLst/>
          </a:prstGeom>
          <a:noFill/>
        </p:spPr>
        <p:txBody>
          <a:bodyPr wrap="square" rtlCol="0">
            <a:spAutoFit/>
          </a:bodyPr>
          <a:lstStyle/>
          <a:p>
            <a:pPr algn="just"/>
            <a:r>
              <a:rPr lang="en-US" noProof="1">
                <a:solidFill>
                  <a:srgbClr val="FF0000"/>
                </a:solidFill>
              </a:rPr>
              <a:t>Giai đoạn chuyển biến mạnh.</a:t>
            </a:r>
          </a:p>
        </p:txBody>
      </p:sp>
    </p:spTree>
    <p:extLst>
      <p:ext uri="{BB962C8B-B14F-4D97-AF65-F5344CB8AC3E}">
        <p14:creationId xmlns:p14="http://schemas.microsoft.com/office/powerpoint/2010/main" val="398585716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2B39-FA15-6ADB-AC74-639A44ECA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79529-6EEB-F079-1228-9569C29946E2}"/>
              </a:ext>
            </a:extLst>
          </p:cNvPr>
          <p:cNvSpPr>
            <a:spLocks noGrp="1"/>
          </p:cNvSpPr>
          <p:nvPr>
            <p:ph type="title"/>
          </p:nvPr>
        </p:nvSpPr>
        <p:spPr/>
        <p:txBody>
          <a:bodyPr/>
          <a:lstStyle/>
          <a:p>
            <a:r>
              <a:rPr lang="en-US" sz="4000" noProof="1"/>
              <a:t>Quy trình gán nhãn &amp; Kiểm soát chất lượng</a:t>
            </a:r>
          </a:p>
        </p:txBody>
      </p:sp>
      <p:sp>
        <p:nvSpPr>
          <p:cNvPr id="4" name="Content Placeholder 3">
            <a:extLst>
              <a:ext uri="{FF2B5EF4-FFF2-40B4-BE49-F238E27FC236}">
                <a16:creationId xmlns:a16="http://schemas.microsoft.com/office/drawing/2014/main" id="{629494F5-33E7-1BB4-B1AB-B8481407C912}"/>
              </a:ext>
            </a:extLst>
          </p:cNvPr>
          <p:cNvSpPr>
            <a:spLocks noGrp="1"/>
          </p:cNvSpPr>
          <p:nvPr>
            <p:ph idx="1"/>
          </p:nvPr>
        </p:nvSpPr>
        <p:spPr/>
        <p:txBody>
          <a:bodyPr/>
          <a:lstStyle/>
          <a:p>
            <a:r>
              <a:rPr lang="en-US" noProof="1"/>
              <a:t>Round 1: Chưa xác định rõ được vấn đề tại sao IAA thấp.</a:t>
            </a:r>
          </a:p>
          <a:p>
            <a:r>
              <a:rPr lang="en-US" noProof="1">
                <a:solidFill>
                  <a:srgbClr val="FF0000"/>
                </a:solidFill>
              </a:rPr>
              <a:t>Round 2 và 3: Các tin báo liên quan đến showbiz, câu nói của người nổi tiếng, các tư liệu lịch sử, tình tiết 1 tập film,  và tin tức về bất động sản.</a:t>
            </a:r>
          </a:p>
        </p:txBody>
      </p:sp>
    </p:spTree>
    <p:extLst>
      <p:ext uri="{BB962C8B-B14F-4D97-AF65-F5344CB8AC3E}">
        <p14:creationId xmlns:p14="http://schemas.microsoft.com/office/powerpoint/2010/main" val="7958780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33EA-8081-C290-44A2-96B1BBA20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0E219-9374-33A8-171C-D155B6AB5C72}"/>
              </a:ext>
            </a:extLst>
          </p:cNvPr>
          <p:cNvSpPr>
            <a:spLocks noGrp="1"/>
          </p:cNvSpPr>
          <p:nvPr>
            <p:ph type="title"/>
          </p:nvPr>
        </p:nvSpPr>
        <p:spPr/>
        <p:txBody>
          <a:bodyPr/>
          <a:lstStyle/>
          <a:p>
            <a:r>
              <a:rPr lang="en-US" sz="4000" noProof="1"/>
              <a:t>Quy trình gán nhãn &amp; Kiểm soát chất lượng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8F43625-2964-A289-40E4-DD88C7AD6817}"/>
                  </a:ext>
                </a:extLst>
              </p:cNvPr>
              <p:cNvSpPr>
                <a:spLocks noGrp="1"/>
              </p:cNvSpPr>
              <p:nvPr>
                <p:ph idx="1"/>
              </p:nvPr>
            </p:nvSpPr>
            <p:spPr/>
            <p:txBody>
              <a:bodyPr/>
              <a:lstStyle/>
              <a:p>
                <a:r>
                  <a:rPr lang="en-US" noProof="1"/>
                  <a:t>Round 4: Các tin báo liên quan đến quân sự: Khí tài quân sự phát triển,  “sự xung đột” giữa các bên, thông tin chính trị trung lập, …</a:t>
                </a:r>
              </a:p>
              <a:p>
                <a:r>
                  <a:rPr lang="en-US" noProof="1">
                    <a:solidFill>
                      <a:srgbClr val="FF0000"/>
                    </a:solidFill>
                  </a:rPr>
                  <a:t>Round 6, 7: Guideline không thay đổi </a:t>
                </a:r>
                <a14:m>
                  <m:oMath xmlns:m="http://schemas.openxmlformats.org/officeDocument/2006/math">
                    <m:r>
                      <a:rPr lang="en-US" i="1" noProof="1" dirty="0" smtClean="0">
                        <a:solidFill>
                          <a:srgbClr val="FF0000"/>
                        </a:solidFill>
                        <a:latin typeface="Cambria Math" panose="02040503050406030204" pitchFamily="18" charset="0"/>
                        <a:ea typeface="Cambria Math" panose="02040503050406030204" pitchFamily="18" charset="0"/>
                      </a:rPr>
                      <m:t>→</m:t>
                    </m:r>
                  </m:oMath>
                </a14:m>
                <a:r>
                  <a:rPr lang="en-US" noProof="1">
                    <a:solidFill>
                      <a:srgbClr val="FF0000"/>
                    </a:solidFill>
                  </a:rPr>
                  <a:t> IAA đạt mức mong muốn.</a:t>
                </a:r>
              </a:p>
            </p:txBody>
          </p:sp>
        </mc:Choice>
        <mc:Fallback xmlns="">
          <p:sp>
            <p:nvSpPr>
              <p:cNvPr id="4" name="Content Placeholder 3">
                <a:extLst>
                  <a:ext uri="{FF2B5EF4-FFF2-40B4-BE49-F238E27FC236}">
                    <a16:creationId xmlns:a16="http://schemas.microsoft.com/office/drawing/2014/main" id="{48F43625-2964-A289-40E4-DD88C7AD6817}"/>
                  </a:ext>
                </a:extLst>
              </p:cNvPr>
              <p:cNvSpPr>
                <a:spLocks noGrp="1" noRot="1" noChangeAspect="1" noMove="1" noResize="1" noEditPoints="1" noAdjustHandles="1" noChangeArrowheads="1" noChangeShapeType="1" noTextEdit="1"/>
              </p:cNvSpPr>
              <p:nvPr>
                <p:ph idx="1"/>
              </p:nvPr>
            </p:nvSpPr>
            <p:spPr>
              <a:blipFill>
                <a:blip r:embed="rId2"/>
                <a:stretch>
                  <a:fillRect l="-1000" t="-1482" r="-2056"/>
                </a:stretch>
              </a:blipFill>
            </p:spPr>
            <p:txBody>
              <a:bodyPr/>
              <a:lstStyle/>
              <a:p>
                <a:r>
                  <a:rPr lang="vi-VN">
                    <a:noFill/>
                  </a:rPr>
                  <a:t> </a:t>
                </a:r>
              </a:p>
            </p:txBody>
          </p:sp>
        </mc:Fallback>
      </mc:AlternateContent>
    </p:spTree>
    <p:extLst>
      <p:ext uri="{BB962C8B-B14F-4D97-AF65-F5344CB8AC3E}">
        <p14:creationId xmlns:p14="http://schemas.microsoft.com/office/powerpoint/2010/main" val="401158031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EF8F-A98A-D2B1-E3F1-3E5EB4A0C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41F26-213F-3B92-981A-A1A8FDF7E242}"/>
              </a:ext>
            </a:extLst>
          </p:cNvPr>
          <p:cNvSpPr>
            <a:spLocks noGrp="1"/>
          </p:cNvSpPr>
          <p:nvPr>
            <p:ph type="title"/>
          </p:nvPr>
        </p:nvSpPr>
        <p:spPr/>
        <p:txBody>
          <a:bodyPr/>
          <a:lstStyle/>
          <a:p>
            <a:r>
              <a:rPr lang="en-US" sz="4000" noProof="1"/>
              <a:t>Quy trình gán nhãn &amp; Kiểm soát chất lượng</a:t>
            </a:r>
          </a:p>
        </p:txBody>
      </p:sp>
      <p:pic>
        <p:nvPicPr>
          <p:cNvPr id="1026" name="Picture 2">
            <a:extLst>
              <a:ext uri="{FF2B5EF4-FFF2-40B4-BE49-F238E27FC236}">
                <a16:creationId xmlns:a16="http://schemas.microsoft.com/office/drawing/2014/main" id="{6C5EADE0-3EA2-821B-4A65-E3D124FD0C61}"/>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234780" y="1600200"/>
            <a:ext cx="9722439" cy="45259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FBAD8B2-B1B3-7829-65C4-773F87565CEC}"/>
              </a:ext>
            </a:extLst>
          </p:cNvPr>
          <p:cNvSpPr/>
          <p:nvPr/>
        </p:nvSpPr>
        <p:spPr>
          <a:xfrm>
            <a:off x="2971799" y="4191000"/>
            <a:ext cx="7985420" cy="19351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28514989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0EB5D-2113-5483-561A-0C2B68268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5F689-4D59-4807-AE72-90BD63EBF56A}"/>
              </a:ext>
            </a:extLst>
          </p:cNvPr>
          <p:cNvSpPr>
            <a:spLocks noGrp="1"/>
          </p:cNvSpPr>
          <p:nvPr>
            <p:ph type="title"/>
          </p:nvPr>
        </p:nvSpPr>
        <p:spPr/>
        <p:txBody>
          <a:bodyPr/>
          <a:lstStyle/>
          <a:p>
            <a:r>
              <a:rPr lang="en-US" noProof="1"/>
              <a:t>Tổng quan về bộ ngữ liệu</a:t>
            </a:r>
          </a:p>
        </p:txBody>
      </p:sp>
      <p:sp>
        <p:nvSpPr>
          <p:cNvPr id="3" name="Text Placeholder 2">
            <a:extLst>
              <a:ext uri="{FF2B5EF4-FFF2-40B4-BE49-F238E27FC236}">
                <a16:creationId xmlns:a16="http://schemas.microsoft.com/office/drawing/2014/main" id="{D033FC0D-B5D6-0F46-5C50-545E433D4699}"/>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142328330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AAA53-D6EF-B0FB-FDD2-BEB95258F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2660B-6C64-2D21-3B0E-BFAA66629F94}"/>
              </a:ext>
            </a:extLst>
          </p:cNvPr>
          <p:cNvSpPr>
            <a:spLocks noGrp="1"/>
          </p:cNvSpPr>
          <p:nvPr>
            <p:ph type="title"/>
          </p:nvPr>
        </p:nvSpPr>
        <p:spPr/>
        <p:txBody>
          <a:bodyPr/>
          <a:lstStyle/>
          <a:p>
            <a:r>
              <a:rPr lang="en-US" noProof="1"/>
              <a:t>Thống kê &amp; Phân bố dữ liệu</a:t>
            </a:r>
          </a:p>
        </p:txBody>
      </p:sp>
      <p:sp>
        <p:nvSpPr>
          <p:cNvPr id="4" name="Content Placeholder 3">
            <a:extLst>
              <a:ext uri="{FF2B5EF4-FFF2-40B4-BE49-F238E27FC236}">
                <a16:creationId xmlns:a16="http://schemas.microsoft.com/office/drawing/2014/main" id="{98F4662B-A6BC-5694-05F5-E407C19E4D46}"/>
              </a:ext>
            </a:extLst>
          </p:cNvPr>
          <p:cNvSpPr>
            <a:spLocks noGrp="1"/>
          </p:cNvSpPr>
          <p:nvPr>
            <p:ph idx="1"/>
          </p:nvPr>
        </p:nvSpPr>
        <p:spPr/>
        <p:txBody>
          <a:bodyPr/>
          <a:lstStyle/>
          <a:p>
            <a:r>
              <a:rPr lang="en-US" noProof="1"/>
              <a:t>Tổng kích thước: 2,444 mẫu</a:t>
            </a:r>
          </a:p>
          <a:p>
            <a:r>
              <a:rPr lang="en-US" noProof="1">
                <a:solidFill>
                  <a:srgbClr val="FF0000"/>
                </a:solidFill>
              </a:rPr>
              <a:t>Phân chia tập dữ liệu (Data Split theo tỉ lệ 7:1:2):</a:t>
            </a:r>
          </a:p>
          <a:p>
            <a:pPr lvl="1"/>
            <a:r>
              <a:rPr lang="en-US" noProof="1"/>
              <a:t>Training Set: 1,710 mẫu (~70%) </a:t>
            </a:r>
          </a:p>
          <a:p>
            <a:pPr lvl="1"/>
            <a:r>
              <a:rPr lang="en-US" noProof="1">
                <a:solidFill>
                  <a:srgbClr val="FF0000"/>
                </a:solidFill>
              </a:rPr>
              <a:t>Development (Dev) Set: 244 mẫu (~10%)</a:t>
            </a:r>
          </a:p>
          <a:p>
            <a:pPr lvl="1"/>
            <a:r>
              <a:rPr lang="en-US" noProof="1"/>
              <a:t>Test Set: 490 mẫu (~20%)</a:t>
            </a:r>
          </a:p>
        </p:txBody>
      </p:sp>
    </p:spTree>
    <p:extLst>
      <p:ext uri="{BB962C8B-B14F-4D97-AF65-F5344CB8AC3E}">
        <p14:creationId xmlns:p14="http://schemas.microsoft.com/office/powerpoint/2010/main" val="3307618292"/>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BF02-C4E9-F90D-93E4-883FDEDEF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F9B8F-6D5D-7D45-11ED-E446D3D9CF18}"/>
              </a:ext>
            </a:extLst>
          </p:cNvPr>
          <p:cNvSpPr>
            <a:spLocks noGrp="1"/>
          </p:cNvSpPr>
          <p:nvPr>
            <p:ph type="title"/>
          </p:nvPr>
        </p:nvSpPr>
        <p:spPr/>
        <p:txBody>
          <a:bodyPr/>
          <a:lstStyle/>
          <a:p>
            <a:r>
              <a:rPr lang="en-US" noProof="1"/>
              <a:t>Thống kê &amp; Phân bố dữ liệu</a:t>
            </a:r>
          </a:p>
        </p:txBody>
      </p:sp>
      <p:pic>
        <p:nvPicPr>
          <p:cNvPr id="3" name="Content Placeholder 2" descr="A graph with different colored bars&#10;&#10;AI-generated content may be incorrect.">
            <a:extLst>
              <a:ext uri="{FF2B5EF4-FFF2-40B4-BE49-F238E27FC236}">
                <a16:creationId xmlns:a16="http://schemas.microsoft.com/office/drawing/2014/main" id="{61FE9DE9-6AA7-B4EB-1D31-733534981127}"/>
              </a:ext>
            </a:extLst>
          </p:cNvPr>
          <p:cNvPicPr>
            <a:picLocks noGrp="1" noChangeAspect="1"/>
          </p:cNvPicPr>
          <p:nvPr>
            <p:ph idx="1"/>
          </p:nvPr>
        </p:nvPicPr>
        <p:blipFill>
          <a:blip r:embed="rId2"/>
          <a:stretch>
            <a:fillRect/>
          </a:stretch>
        </p:blipFill>
        <p:spPr>
          <a:xfrm>
            <a:off x="2302629" y="1600200"/>
            <a:ext cx="7586741" cy="4525963"/>
          </a:xfrm>
          <a:prstGeom prst="rect">
            <a:avLst/>
          </a:prstGeom>
        </p:spPr>
      </p:pic>
    </p:spTree>
    <p:extLst>
      <p:ext uri="{BB962C8B-B14F-4D97-AF65-F5344CB8AC3E}">
        <p14:creationId xmlns:p14="http://schemas.microsoft.com/office/powerpoint/2010/main" val="231885762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7677D-0275-D3A5-F8DC-98D21197D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DCE54-C68C-A9FC-EC7C-D41B20209980}"/>
              </a:ext>
            </a:extLst>
          </p:cNvPr>
          <p:cNvSpPr>
            <a:spLocks noGrp="1"/>
          </p:cNvSpPr>
          <p:nvPr>
            <p:ph type="title"/>
          </p:nvPr>
        </p:nvSpPr>
        <p:spPr/>
        <p:txBody>
          <a:bodyPr/>
          <a:lstStyle/>
          <a:p>
            <a:r>
              <a:rPr lang="en-US" noProof="1"/>
              <a:t>Thực nghiệm &amp; Đánh giá</a:t>
            </a:r>
          </a:p>
        </p:txBody>
      </p:sp>
      <p:sp>
        <p:nvSpPr>
          <p:cNvPr id="3" name="Text Placeholder 2">
            <a:extLst>
              <a:ext uri="{FF2B5EF4-FFF2-40B4-BE49-F238E27FC236}">
                <a16:creationId xmlns:a16="http://schemas.microsoft.com/office/drawing/2014/main" id="{B0917226-01C1-9080-6068-C6F98228EF4C}"/>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22496944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82FF9-6AC5-A200-8C02-32454F5CDCE8}"/>
              </a:ext>
            </a:extLst>
          </p:cNvPr>
          <p:cNvSpPr>
            <a:spLocks noGrp="1"/>
          </p:cNvSpPr>
          <p:nvPr>
            <p:ph type="title"/>
          </p:nvPr>
        </p:nvSpPr>
        <p:spPr/>
        <p:txBody>
          <a:bodyPr/>
          <a:lstStyle/>
          <a:p>
            <a:r>
              <a:rPr lang="vi-VN"/>
              <a:t>Data Preprocessing</a:t>
            </a:r>
            <a:endParaRPr lang="en-US"/>
          </a:p>
        </p:txBody>
      </p:sp>
      <p:sp>
        <p:nvSpPr>
          <p:cNvPr id="3" name="Content Placeholder 2">
            <a:extLst>
              <a:ext uri="{FF2B5EF4-FFF2-40B4-BE49-F238E27FC236}">
                <a16:creationId xmlns:a16="http://schemas.microsoft.com/office/drawing/2014/main" id="{B8BE8F49-1BE8-C193-7F75-0E25BE4B800F}"/>
              </a:ext>
            </a:extLst>
          </p:cNvPr>
          <p:cNvSpPr>
            <a:spLocks noGrp="1"/>
          </p:cNvSpPr>
          <p:nvPr>
            <p:ph idx="1"/>
          </p:nvPr>
        </p:nvSpPr>
        <p:spPr/>
        <p:txBody>
          <a:bodyPr/>
          <a:lstStyle/>
          <a:p>
            <a:r>
              <a:rPr lang="vi-VN"/>
              <a:t>Chuyển văn bản về chữ thuờng</a:t>
            </a:r>
          </a:p>
          <a:p>
            <a:r>
              <a:rPr lang="vi-VN">
                <a:solidFill>
                  <a:srgbClr val="FF0000"/>
                </a:solidFill>
              </a:rPr>
              <a:t>Loại bỏ </a:t>
            </a:r>
            <a:r>
              <a:rPr lang="en-US">
                <a:solidFill>
                  <a:srgbClr val="FF0000"/>
                </a:solidFill>
              </a:rPr>
              <a:t>URLs, Hashtags, Mentions</a:t>
            </a:r>
          </a:p>
          <a:p>
            <a:r>
              <a:rPr lang="vi-VN"/>
              <a:t>Loại bỏ số và dấu câu</a:t>
            </a:r>
          </a:p>
          <a:p>
            <a:r>
              <a:rPr lang="vi-VN">
                <a:solidFill>
                  <a:srgbClr val="FF0000"/>
                </a:solidFill>
              </a:rPr>
              <a:t>Word segmentation bằng pyvi</a:t>
            </a:r>
          </a:p>
          <a:p>
            <a:r>
              <a:rPr lang="vi-VN"/>
              <a:t>Loại bỏ stopwords</a:t>
            </a:r>
            <a:r>
              <a:rPr lang="en-US"/>
              <a:t> (</a:t>
            </a:r>
            <a:r>
              <a:rPr lang="en-US" err="1"/>
              <a:t>từ</a:t>
            </a:r>
            <a:r>
              <a:rPr lang="en-US"/>
              <a:t> </a:t>
            </a:r>
            <a:r>
              <a:rPr lang="en-US" err="1"/>
              <a:t>điển</a:t>
            </a:r>
            <a:r>
              <a:rPr lang="en-US"/>
              <a:t> </a:t>
            </a:r>
            <a:r>
              <a:rPr lang="en-US" err="1"/>
              <a:t>stopword</a:t>
            </a:r>
            <a:r>
              <a:rPr lang="en-US"/>
              <a:t> </a:t>
            </a:r>
            <a:r>
              <a:rPr lang="en-US" err="1"/>
              <a:t>của</a:t>
            </a:r>
            <a:r>
              <a:rPr lang="en-US"/>
              <a:t> Việt Nam </a:t>
            </a:r>
            <a:r>
              <a:rPr lang="en-US" err="1"/>
              <a:t>được</a:t>
            </a:r>
            <a:r>
              <a:rPr lang="en-US"/>
              <a:t> </a:t>
            </a:r>
            <a:r>
              <a:rPr lang="en-US" err="1"/>
              <a:t>lấy</a:t>
            </a:r>
            <a:r>
              <a:rPr lang="en-US"/>
              <a:t> </a:t>
            </a:r>
            <a:r>
              <a:rPr lang="en-US" err="1"/>
              <a:t>từ</a:t>
            </a:r>
            <a:r>
              <a:rPr lang="en-US"/>
              <a:t> </a:t>
            </a:r>
            <a:r>
              <a:rPr lang="en-US" err="1">
                <a:hlinkClick r:id="rId2"/>
              </a:rPr>
              <a:t>vietnamese-stopword</a:t>
            </a:r>
            <a:r>
              <a:rPr lang="en-US"/>
              <a:t>)</a:t>
            </a:r>
            <a:r>
              <a:rPr lang="vi-VN"/>
              <a:t> và xóa khoảng trắng thừa</a:t>
            </a:r>
            <a:endParaRPr lang="en-US"/>
          </a:p>
        </p:txBody>
      </p:sp>
    </p:spTree>
    <p:extLst>
      <p:ext uri="{BB962C8B-B14F-4D97-AF65-F5344CB8AC3E}">
        <p14:creationId xmlns:p14="http://schemas.microsoft.com/office/powerpoint/2010/main" val="235317085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A9058-3ED3-CB27-9AB6-2AEC9E734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8E86A-6470-E79E-2F3A-B472BF462CAE}"/>
              </a:ext>
            </a:extLst>
          </p:cNvPr>
          <p:cNvSpPr>
            <a:spLocks noGrp="1"/>
          </p:cNvSpPr>
          <p:nvPr>
            <p:ph type="title"/>
          </p:nvPr>
        </p:nvSpPr>
        <p:spPr/>
        <p:txBody>
          <a:bodyPr/>
          <a:lstStyle/>
          <a:p>
            <a:r>
              <a:rPr lang="vi-VN"/>
              <a:t>Feature Extraction</a:t>
            </a:r>
            <a:endParaRPr lang="en-US"/>
          </a:p>
        </p:txBody>
      </p:sp>
      <p:sp>
        <p:nvSpPr>
          <p:cNvPr id="3" name="Content Placeholder 2">
            <a:extLst>
              <a:ext uri="{FF2B5EF4-FFF2-40B4-BE49-F238E27FC236}">
                <a16:creationId xmlns:a16="http://schemas.microsoft.com/office/drawing/2014/main" id="{FAB11CE6-629B-D142-EEE4-6AE8A97E2CF1}"/>
              </a:ext>
            </a:extLst>
          </p:cNvPr>
          <p:cNvSpPr>
            <a:spLocks noGrp="1"/>
          </p:cNvSpPr>
          <p:nvPr>
            <p:ph idx="1"/>
          </p:nvPr>
        </p:nvSpPr>
        <p:spPr/>
        <p:txBody>
          <a:bodyPr/>
          <a:lstStyle/>
          <a:p>
            <a:r>
              <a:rPr lang="vi-VN"/>
              <a:t>Nhóm mô hình Machine Learning:</a:t>
            </a:r>
          </a:p>
          <a:p>
            <a:pPr lvl="1"/>
            <a:r>
              <a:rPr lang="vi-VN">
                <a:solidFill>
                  <a:srgbClr val="FF0000"/>
                </a:solidFill>
              </a:rPr>
              <a:t>TF-IDF </a:t>
            </a:r>
          </a:p>
          <a:p>
            <a:pPr lvl="1"/>
            <a:r>
              <a:rPr lang="vi-VN"/>
              <a:t>ngram </a:t>
            </a:r>
          </a:p>
          <a:p>
            <a:pPr lvl="1"/>
            <a:r>
              <a:rPr lang="vi-VN">
                <a:solidFill>
                  <a:srgbClr val="FF0000"/>
                </a:solidFill>
              </a:rPr>
              <a:t>max_features: None </a:t>
            </a:r>
          </a:p>
          <a:p>
            <a:r>
              <a:rPr lang="vi-VN"/>
              <a:t>Nhóm mô hình Deep Learning: pre-trained Embedding + padding</a:t>
            </a:r>
          </a:p>
          <a:p>
            <a:pPr lvl="1"/>
            <a:r>
              <a:rPr lang="vi-VN">
                <a:solidFill>
                  <a:srgbClr val="FF0000"/>
                </a:solidFill>
              </a:rPr>
              <a:t>GRU: EMBEDDING_DIM = 200</a:t>
            </a:r>
          </a:p>
          <a:p>
            <a:pPr lvl="1"/>
            <a:r>
              <a:rPr lang="vi-VN"/>
              <a:t>TextCNN: EMBEDDING_DIM = 300</a:t>
            </a:r>
          </a:p>
          <a:p>
            <a:r>
              <a:rPr lang="en-US">
                <a:solidFill>
                  <a:srgbClr val="FF0000"/>
                </a:solidFill>
              </a:rPr>
              <a:t>Nhóm mô hình T</a:t>
            </a:r>
            <a:r>
              <a:rPr lang="vi-VN">
                <a:solidFill>
                  <a:srgbClr val="FF0000"/>
                </a:solidFill>
              </a:rPr>
              <a:t>ransformer: pre-trained AutoTokenizer</a:t>
            </a:r>
          </a:p>
          <a:p>
            <a:endParaRPr lang="vi-VN"/>
          </a:p>
          <a:p>
            <a:pPr lvl="1"/>
            <a:endParaRPr lang="vi-VN"/>
          </a:p>
          <a:p>
            <a:pPr lvl="1"/>
            <a:endParaRPr lang="en-US">
              <a:solidFill>
                <a:srgbClr val="FF0000"/>
              </a:solidFill>
            </a:endParaRPr>
          </a:p>
        </p:txBody>
      </p:sp>
    </p:spTree>
    <p:extLst>
      <p:ext uri="{BB962C8B-B14F-4D97-AF65-F5344CB8AC3E}">
        <p14:creationId xmlns:p14="http://schemas.microsoft.com/office/powerpoint/2010/main" val="195729056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575E1-1C8E-57ED-ACC5-3E7C89154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52575-9037-8F21-A9B6-3BB0D6EA6A5A}"/>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B25DFE6F-7B8C-7470-C7AA-72105C27BBF2}"/>
              </a:ext>
            </a:extLst>
          </p:cNvPr>
          <p:cNvSpPr>
            <a:spLocks noGrp="1"/>
          </p:cNvSpPr>
          <p:nvPr>
            <p:ph idx="1"/>
          </p:nvPr>
        </p:nvSpPr>
        <p:spPr/>
        <p:txBody>
          <a:bodyPr/>
          <a:lstStyle/>
          <a:p>
            <a:r>
              <a:rPr lang="vi-VN"/>
              <a:t>Logistic Regression</a:t>
            </a:r>
          </a:p>
          <a:p>
            <a:pPr lvl="1"/>
            <a:r>
              <a:rPr lang="vi-VN">
                <a:solidFill>
                  <a:srgbClr val="FF0000"/>
                </a:solidFill>
              </a:rPr>
              <a:t>C = 10</a:t>
            </a:r>
          </a:p>
          <a:p>
            <a:pPr lvl="1"/>
            <a:r>
              <a:rPr lang="vi-VN"/>
              <a:t>Solver = </a:t>
            </a:r>
            <a:r>
              <a:rPr lang="en-US"/>
              <a:t>lbfgs</a:t>
            </a:r>
            <a:endParaRPr lang="vi-VN"/>
          </a:p>
          <a:p>
            <a:r>
              <a:rPr lang="vi-VN">
                <a:solidFill>
                  <a:srgbClr val="FF0000"/>
                </a:solidFill>
              </a:rPr>
              <a:t>Linear SVM</a:t>
            </a:r>
          </a:p>
          <a:p>
            <a:pPr lvl="1"/>
            <a:r>
              <a:rPr lang="vi-VN"/>
              <a:t>C = 0.1</a:t>
            </a:r>
          </a:p>
          <a:p>
            <a:pPr lvl="1"/>
            <a:r>
              <a:rPr lang="vi-VN">
                <a:solidFill>
                  <a:srgbClr val="FF0000"/>
                </a:solidFill>
              </a:rPr>
              <a:t>Class_weight = </a:t>
            </a:r>
            <a:r>
              <a:rPr lang="en-US">
                <a:solidFill>
                  <a:srgbClr val="FF0000"/>
                </a:solidFill>
              </a:rPr>
              <a:t>balanced</a:t>
            </a:r>
            <a:endParaRPr lang="vi-VN">
              <a:solidFill>
                <a:srgbClr val="FF0000"/>
              </a:solidFill>
            </a:endParaRPr>
          </a:p>
          <a:p>
            <a:r>
              <a:rPr lang="en-US"/>
              <a:t>Naive Bayes</a:t>
            </a:r>
            <a:endParaRPr lang="vi-VN"/>
          </a:p>
          <a:p>
            <a:pPr lvl="1"/>
            <a:r>
              <a:rPr lang="en-US">
                <a:solidFill>
                  <a:srgbClr val="FF0000"/>
                </a:solidFill>
              </a:rPr>
              <a:t>ComplementNB</a:t>
            </a:r>
            <a:endParaRPr lang="vi-VN">
              <a:solidFill>
                <a:srgbClr val="FF0000"/>
              </a:solidFill>
            </a:endParaRPr>
          </a:p>
          <a:p>
            <a:pPr lvl="1"/>
            <a:r>
              <a:rPr lang="en-US"/>
              <a:t>Alpha</a:t>
            </a:r>
            <a:r>
              <a:rPr lang="vi-VN"/>
              <a:t> =</a:t>
            </a:r>
            <a:r>
              <a:rPr lang="en-US"/>
              <a:t> 0.3</a:t>
            </a:r>
          </a:p>
          <a:p>
            <a:pPr lvl="1"/>
            <a:endParaRPr lang="vi-VN"/>
          </a:p>
          <a:p>
            <a:endParaRPr lang="en-US"/>
          </a:p>
          <a:p>
            <a:endParaRPr lang="en-US"/>
          </a:p>
        </p:txBody>
      </p:sp>
    </p:spTree>
    <p:extLst>
      <p:ext uri="{BB962C8B-B14F-4D97-AF65-F5344CB8AC3E}">
        <p14:creationId xmlns:p14="http://schemas.microsoft.com/office/powerpoint/2010/main" val="19267615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23476-A73B-76B8-06F4-97F2289DB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539DE-4584-06EF-BEFB-8D7D90A9E633}"/>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8EF0C7C5-3820-3FFA-9DC3-4E5D39B47AF3}"/>
              </a:ext>
            </a:extLst>
          </p:cNvPr>
          <p:cNvSpPr>
            <a:spLocks noGrp="1"/>
          </p:cNvSpPr>
          <p:nvPr>
            <p:ph idx="1"/>
          </p:nvPr>
        </p:nvSpPr>
        <p:spPr/>
        <p:txBody>
          <a:bodyPr/>
          <a:lstStyle/>
          <a:p>
            <a:r>
              <a:rPr lang="vi-VN"/>
              <a:t>Decision Tree</a:t>
            </a:r>
          </a:p>
          <a:p>
            <a:pPr lvl="1"/>
            <a:r>
              <a:rPr lang="vi-VN">
                <a:solidFill>
                  <a:srgbClr val="FF0000"/>
                </a:solidFill>
              </a:rPr>
              <a:t>criterion: gini</a:t>
            </a:r>
          </a:p>
          <a:p>
            <a:pPr lvl="1"/>
            <a:r>
              <a:rPr lang="vi-VN"/>
              <a:t>max_depth: 50</a:t>
            </a:r>
          </a:p>
          <a:p>
            <a:pPr lvl="1"/>
            <a:r>
              <a:rPr lang="vi-VN">
                <a:solidFill>
                  <a:srgbClr val="FF0000"/>
                </a:solidFill>
              </a:rPr>
              <a:t>min_samples_split: 7</a:t>
            </a:r>
          </a:p>
          <a:p>
            <a:pPr lvl="1"/>
            <a:r>
              <a:rPr lang="vi-VN"/>
              <a:t>ngram_range: (1, 4)</a:t>
            </a:r>
          </a:p>
          <a:p>
            <a:r>
              <a:rPr lang="vi-VN"/>
              <a:t>KNN</a:t>
            </a:r>
          </a:p>
          <a:p>
            <a:pPr lvl="1"/>
            <a:r>
              <a:rPr lang="vi-VN">
                <a:solidFill>
                  <a:srgbClr val="FF0000"/>
                </a:solidFill>
              </a:rPr>
              <a:t>Metric = cosine</a:t>
            </a:r>
          </a:p>
          <a:p>
            <a:pPr lvl="1"/>
            <a:r>
              <a:rPr lang="vi-VN"/>
              <a:t>Neighbors = 9</a:t>
            </a:r>
          </a:p>
          <a:p>
            <a:pPr lvl="1"/>
            <a:r>
              <a:rPr lang="vi-VN">
                <a:solidFill>
                  <a:srgbClr val="FF0000"/>
                </a:solidFill>
              </a:rPr>
              <a:t>Weights = distance</a:t>
            </a:r>
          </a:p>
          <a:p>
            <a:endParaRPr lang="en-US"/>
          </a:p>
          <a:p>
            <a:endParaRPr lang="en-US"/>
          </a:p>
        </p:txBody>
      </p:sp>
    </p:spTree>
    <p:extLst>
      <p:ext uri="{BB962C8B-B14F-4D97-AF65-F5344CB8AC3E}">
        <p14:creationId xmlns:p14="http://schemas.microsoft.com/office/powerpoint/2010/main" val="15374305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7E46A-A6F7-F123-0E14-F348AEF1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4D354-29E9-AB4A-6ECD-09D817CB4FEA}"/>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8ECF0C09-05EF-D6AF-3DA9-57722670D4A0}"/>
              </a:ext>
            </a:extLst>
          </p:cNvPr>
          <p:cNvSpPr>
            <a:spLocks noGrp="1"/>
          </p:cNvSpPr>
          <p:nvPr>
            <p:ph idx="1"/>
          </p:nvPr>
        </p:nvSpPr>
        <p:spPr/>
        <p:txBody>
          <a:bodyPr/>
          <a:lstStyle/>
          <a:p>
            <a:r>
              <a:rPr lang="vi-VN"/>
              <a:t>XGBoost</a:t>
            </a:r>
          </a:p>
          <a:p>
            <a:pPr lvl="1"/>
            <a:r>
              <a:rPr lang="vi-VN">
                <a:solidFill>
                  <a:srgbClr val="FF0000"/>
                </a:solidFill>
              </a:rPr>
              <a:t>Max Depth = 3</a:t>
            </a:r>
          </a:p>
          <a:p>
            <a:pPr lvl="1"/>
            <a:r>
              <a:rPr lang="vi-VN"/>
              <a:t>Min Child Weight = 1</a:t>
            </a:r>
          </a:p>
          <a:p>
            <a:r>
              <a:rPr lang="vi-VN">
                <a:solidFill>
                  <a:srgbClr val="FF0000"/>
                </a:solidFill>
              </a:rPr>
              <a:t>Random Forest</a:t>
            </a:r>
          </a:p>
          <a:p>
            <a:pPr lvl="1"/>
            <a:r>
              <a:rPr lang="en-US"/>
              <a:t>n_estimators</a:t>
            </a:r>
            <a:r>
              <a:rPr lang="vi-VN"/>
              <a:t> = 300</a:t>
            </a:r>
          </a:p>
          <a:p>
            <a:pPr lvl="1"/>
            <a:r>
              <a:rPr lang="en-US">
                <a:solidFill>
                  <a:srgbClr val="FF0000"/>
                </a:solidFill>
              </a:rPr>
              <a:t>Min Samples Split</a:t>
            </a:r>
            <a:r>
              <a:rPr lang="vi-VN">
                <a:solidFill>
                  <a:srgbClr val="FF0000"/>
                </a:solidFill>
              </a:rPr>
              <a:t> = 5</a:t>
            </a:r>
            <a:endParaRPr lang="en-US">
              <a:solidFill>
                <a:srgbClr val="FF0000"/>
              </a:solidFill>
            </a:endParaRPr>
          </a:p>
        </p:txBody>
      </p:sp>
    </p:spTree>
    <p:extLst>
      <p:ext uri="{BB962C8B-B14F-4D97-AF65-F5344CB8AC3E}">
        <p14:creationId xmlns:p14="http://schemas.microsoft.com/office/powerpoint/2010/main" val="261248130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BA69-7675-6DF1-0474-B6321D55EE30}"/>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A52E5835-B7B8-9233-CFAE-071458BA3682}"/>
              </a:ext>
            </a:extLst>
          </p:cNvPr>
          <p:cNvSpPr>
            <a:spLocks noGrp="1"/>
          </p:cNvSpPr>
          <p:nvPr>
            <p:ph idx="1"/>
          </p:nvPr>
        </p:nvSpPr>
        <p:spPr/>
        <p:txBody>
          <a:bodyPr/>
          <a:lstStyle/>
          <a:p>
            <a:r>
              <a:rPr lang="vi-VN"/>
              <a:t>GRU</a:t>
            </a:r>
          </a:p>
          <a:p>
            <a:pPr lvl="1"/>
            <a:r>
              <a:rPr lang="en-US">
                <a:solidFill>
                  <a:srgbClr val="FF0000"/>
                </a:solidFill>
              </a:rPr>
              <a:t>batch_size</a:t>
            </a:r>
            <a:r>
              <a:rPr lang="vi-VN">
                <a:solidFill>
                  <a:srgbClr val="FF0000"/>
                </a:solidFill>
              </a:rPr>
              <a:t> =</a:t>
            </a:r>
            <a:r>
              <a:rPr lang="en-US">
                <a:solidFill>
                  <a:srgbClr val="FF0000"/>
                </a:solidFill>
              </a:rPr>
              <a:t> 32</a:t>
            </a:r>
            <a:endParaRPr lang="vi-VN">
              <a:solidFill>
                <a:srgbClr val="FF0000"/>
              </a:solidFill>
            </a:endParaRPr>
          </a:p>
          <a:p>
            <a:pPr lvl="1"/>
            <a:r>
              <a:rPr lang="en-US"/>
              <a:t>epochs: 10 + early stopping</a:t>
            </a:r>
            <a:endParaRPr lang="vi-VN"/>
          </a:p>
          <a:p>
            <a:pPr lvl="1"/>
            <a:r>
              <a:rPr lang="en-US">
                <a:solidFill>
                  <a:srgbClr val="FF0000"/>
                </a:solidFill>
              </a:rPr>
              <a:t>gru_units</a:t>
            </a:r>
            <a:r>
              <a:rPr lang="vi-VN">
                <a:solidFill>
                  <a:srgbClr val="FF0000"/>
                </a:solidFill>
              </a:rPr>
              <a:t> =</a:t>
            </a:r>
            <a:r>
              <a:rPr lang="en-US">
                <a:solidFill>
                  <a:srgbClr val="FF0000"/>
                </a:solidFill>
              </a:rPr>
              <a:t> 128</a:t>
            </a:r>
            <a:endParaRPr lang="vi-VN">
              <a:solidFill>
                <a:srgbClr val="FF0000"/>
              </a:solidFill>
            </a:endParaRPr>
          </a:p>
          <a:p>
            <a:pPr lvl="1"/>
            <a:r>
              <a:rPr lang="en-US"/>
              <a:t>dropout_rate</a:t>
            </a:r>
            <a:r>
              <a:rPr lang="vi-VN"/>
              <a:t> =</a:t>
            </a:r>
            <a:r>
              <a:rPr lang="en-US"/>
              <a:t> 0.4</a:t>
            </a:r>
            <a:endParaRPr lang="vi-VN"/>
          </a:p>
          <a:p>
            <a:pPr lvl="1"/>
            <a:r>
              <a:rPr lang="vi-VN">
                <a:solidFill>
                  <a:srgbClr val="FF0000"/>
                </a:solidFill>
              </a:rPr>
              <a:t>Optimizer: adam (learning_rate = 0.001)</a:t>
            </a:r>
          </a:p>
          <a:p>
            <a:endParaRPr lang="vi-VN"/>
          </a:p>
        </p:txBody>
      </p:sp>
    </p:spTree>
    <p:extLst>
      <p:ext uri="{BB962C8B-B14F-4D97-AF65-F5344CB8AC3E}">
        <p14:creationId xmlns:p14="http://schemas.microsoft.com/office/powerpoint/2010/main" val="1385580984"/>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4098F-5C5E-33D4-35F3-58619CCC2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38849-9E6F-CF40-4FB5-98628C32DC54}"/>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66451C05-7090-8E60-0792-CE31482EBC52}"/>
              </a:ext>
            </a:extLst>
          </p:cNvPr>
          <p:cNvSpPr>
            <a:spLocks noGrp="1"/>
          </p:cNvSpPr>
          <p:nvPr>
            <p:ph idx="1"/>
          </p:nvPr>
        </p:nvSpPr>
        <p:spPr/>
        <p:txBody>
          <a:bodyPr/>
          <a:lstStyle/>
          <a:p>
            <a:r>
              <a:rPr lang="vi-VN">
                <a:solidFill>
                  <a:srgbClr val="FF0000"/>
                </a:solidFill>
              </a:rPr>
              <a:t>TextCNN</a:t>
            </a:r>
          </a:p>
          <a:p>
            <a:pPr lvl="1"/>
            <a:r>
              <a:rPr lang="en-US"/>
              <a:t>Batch_size</a:t>
            </a:r>
            <a:r>
              <a:rPr lang="vi-VN"/>
              <a:t> =</a:t>
            </a:r>
            <a:r>
              <a:rPr lang="en-US"/>
              <a:t> 64</a:t>
            </a:r>
          </a:p>
          <a:p>
            <a:pPr lvl="1"/>
            <a:r>
              <a:rPr lang="en-US">
                <a:solidFill>
                  <a:srgbClr val="FF0000"/>
                </a:solidFill>
              </a:rPr>
              <a:t>Epochs</a:t>
            </a:r>
            <a:r>
              <a:rPr lang="vi-VN">
                <a:solidFill>
                  <a:srgbClr val="FF0000"/>
                </a:solidFill>
              </a:rPr>
              <a:t> =</a:t>
            </a:r>
            <a:r>
              <a:rPr lang="en-US">
                <a:solidFill>
                  <a:srgbClr val="FF0000"/>
                </a:solidFill>
              </a:rPr>
              <a:t> 30</a:t>
            </a:r>
          </a:p>
          <a:p>
            <a:pPr lvl="1"/>
            <a:r>
              <a:rPr lang="en-US"/>
              <a:t>dropout_</a:t>
            </a:r>
            <a:r>
              <a:rPr lang="vi-VN"/>
              <a:t>rate =</a:t>
            </a:r>
            <a:r>
              <a:rPr lang="en-US"/>
              <a:t> 0.5</a:t>
            </a:r>
            <a:endParaRPr lang="vi-VN"/>
          </a:p>
          <a:p>
            <a:pPr lvl="1"/>
            <a:r>
              <a:rPr lang="en-US">
                <a:solidFill>
                  <a:srgbClr val="FF0000"/>
                </a:solidFill>
              </a:rPr>
              <a:t>model__filters</a:t>
            </a:r>
            <a:r>
              <a:rPr lang="vi-VN">
                <a:solidFill>
                  <a:srgbClr val="FF0000"/>
                </a:solidFill>
              </a:rPr>
              <a:t> =</a:t>
            </a:r>
            <a:r>
              <a:rPr lang="en-US">
                <a:solidFill>
                  <a:srgbClr val="FF0000"/>
                </a:solidFill>
              </a:rPr>
              <a:t> 64</a:t>
            </a:r>
            <a:endParaRPr lang="vi-VN">
              <a:solidFill>
                <a:srgbClr val="FF0000"/>
              </a:solidFill>
            </a:endParaRPr>
          </a:p>
          <a:p>
            <a:pPr lvl="1"/>
            <a:r>
              <a:rPr lang="vi-VN"/>
              <a:t>Optimizer = adam </a:t>
            </a:r>
            <a:endParaRPr lang="en-US"/>
          </a:p>
          <a:p>
            <a:endParaRPr lang="vi-VN"/>
          </a:p>
        </p:txBody>
      </p:sp>
    </p:spTree>
    <p:extLst>
      <p:ext uri="{BB962C8B-B14F-4D97-AF65-F5344CB8AC3E}">
        <p14:creationId xmlns:p14="http://schemas.microsoft.com/office/powerpoint/2010/main" val="184524783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DE5D-A6A8-0C74-D148-6B203F6A8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20B59-1E23-0566-4302-CEF5B09CEBA6}"/>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ADADB4F4-13F2-F401-3EB9-8396B70392E5}"/>
              </a:ext>
            </a:extLst>
          </p:cNvPr>
          <p:cNvSpPr>
            <a:spLocks noGrp="1"/>
          </p:cNvSpPr>
          <p:nvPr>
            <p:ph idx="1"/>
          </p:nvPr>
        </p:nvSpPr>
        <p:spPr/>
        <p:txBody>
          <a:bodyPr/>
          <a:lstStyle/>
          <a:p>
            <a:r>
              <a:rPr lang="vi-VN"/>
              <a:t>BERT</a:t>
            </a:r>
          </a:p>
          <a:p>
            <a:pPr lvl="1"/>
            <a:r>
              <a:rPr lang="en-US">
                <a:solidFill>
                  <a:srgbClr val="FF0000"/>
                </a:solidFill>
              </a:rPr>
              <a:t>learning_</a:t>
            </a:r>
            <a:r>
              <a:rPr lang="vi-VN">
                <a:solidFill>
                  <a:srgbClr val="FF0000"/>
                </a:solidFill>
              </a:rPr>
              <a:t>rate = </a:t>
            </a:r>
            <a:r>
              <a:rPr lang="en-US">
                <a:solidFill>
                  <a:srgbClr val="FF0000"/>
                </a:solidFill>
              </a:rPr>
              <a:t>3e-5 </a:t>
            </a:r>
            <a:endParaRPr lang="vi-VN">
              <a:solidFill>
                <a:srgbClr val="FF0000"/>
              </a:solidFill>
            </a:endParaRPr>
          </a:p>
          <a:p>
            <a:pPr lvl="1"/>
            <a:r>
              <a:rPr lang="en-US"/>
              <a:t>batch_</a:t>
            </a:r>
            <a:r>
              <a:rPr lang="vi-VN"/>
              <a:t>size = </a:t>
            </a:r>
            <a:r>
              <a:rPr lang="en-US"/>
              <a:t>16 </a:t>
            </a:r>
            <a:endParaRPr lang="vi-VN"/>
          </a:p>
          <a:p>
            <a:pPr lvl="1"/>
            <a:r>
              <a:rPr lang="vi-VN">
                <a:solidFill>
                  <a:srgbClr val="FF0000"/>
                </a:solidFill>
              </a:rPr>
              <a:t>Epochs = </a:t>
            </a:r>
            <a:r>
              <a:rPr lang="en-US">
                <a:solidFill>
                  <a:srgbClr val="FF0000"/>
                </a:solidFill>
              </a:rPr>
              <a:t>10</a:t>
            </a:r>
            <a:endParaRPr lang="vi-VN">
              <a:solidFill>
                <a:srgbClr val="FF0000"/>
              </a:solidFill>
            </a:endParaRPr>
          </a:p>
          <a:p>
            <a:pPr lvl="1"/>
            <a:r>
              <a:rPr lang="en-US"/>
              <a:t>weight_</a:t>
            </a:r>
            <a:r>
              <a:rPr lang="vi-VN"/>
              <a:t>decay = </a:t>
            </a:r>
            <a:r>
              <a:rPr lang="en-US"/>
              <a:t>0.01 </a:t>
            </a:r>
            <a:endParaRPr lang="vi-VN"/>
          </a:p>
          <a:p>
            <a:pPr lvl="1"/>
            <a:r>
              <a:rPr lang="en-US">
                <a:solidFill>
                  <a:srgbClr val="FF0000"/>
                </a:solidFill>
              </a:rPr>
              <a:t>warmup_</a:t>
            </a:r>
            <a:r>
              <a:rPr lang="vi-VN">
                <a:solidFill>
                  <a:srgbClr val="FF0000"/>
                </a:solidFill>
              </a:rPr>
              <a:t>ratio = </a:t>
            </a:r>
            <a:r>
              <a:rPr lang="en-US">
                <a:solidFill>
                  <a:srgbClr val="FF0000"/>
                </a:solidFill>
              </a:rPr>
              <a:t>0.1</a:t>
            </a:r>
            <a:endParaRPr lang="vi-VN">
              <a:solidFill>
                <a:srgbClr val="FF0000"/>
              </a:solidFill>
            </a:endParaRPr>
          </a:p>
        </p:txBody>
      </p:sp>
    </p:spTree>
    <p:extLst>
      <p:ext uri="{BB962C8B-B14F-4D97-AF65-F5344CB8AC3E}">
        <p14:creationId xmlns:p14="http://schemas.microsoft.com/office/powerpoint/2010/main" val="294994345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8834-201B-8829-6F72-FDA1583DC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79995-85EE-768E-5A3F-CC175DB1EFA4}"/>
              </a:ext>
            </a:extLst>
          </p:cNvPr>
          <p:cNvSpPr>
            <a:spLocks noGrp="1"/>
          </p:cNvSpPr>
          <p:nvPr>
            <p:ph type="title"/>
          </p:nvPr>
        </p:nvSpPr>
        <p:spPr/>
        <p:txBody>
          <a:bodyPr/>
          <a:lstStyle/>
          <a:p>
            <a:r>
              <a:rPr lang="en-US"/>
              <a:t>Model Implementations</a:t>
            </a:r>
          </a:p>
        </p:txBody>
      </p:sp>
      <p:sp>
        <p:nvSpPr>
          <p:cNvPr id="3" name="Content Placeholder 2">
            <a:extLst>
              <a:ext uri="{FF2B5EF4-FFF2-40B4-BE49-F238E27FC236}">
                <a16:creationId xmlns:a16="http://schemas.microsoft.com/office/drawing/2014/main" id="{43229CCD-143C-BACE-4632-1BCD35800168}"/>
              </a:ext>
            </a:extLst>
          </p:cNvPr>
          <p:cNvSpPr>
            <a:spLocks noGrp="1"/>
          </p:cNvSpPr>
          <p:nvPr>
            <p:ph idx="1"/>
          </p:nvPr>
        </p:nvSpPr>
        <p:spPr/>
        <p:txBody>
          <a:bodyPr/>
          <a:lstStyle/>
          <a:p>
            <a:r>
              <a:rPr lang="vi-VN"/>
              <a:t>PhoBERT</a:t>
            </a:r>
          </a:p>
          <a:p>
            <a:pPr lvl="1"/>
            <a:r>
              <a:rPr lang="vi-VN">
                <a:solidFill>
                  <a:srgbClr val="FF0000"/>
                </a:solidFill>
              </a:rPr>
              <a:t>"learning_rate", 1e-5, 5e-5</a:t>
            </a:r>
          </a:p>
          <a:p>
            <a:pPr lvl="1"/>
            <a:r>
              <a:rPr lang="pt-BR"/>
              <a:t>"num_train_epochs", 3, 5</a:t>
            </a:r>
            <a:endParaRPr lang="vi-VN"/>
          </a:p>
          <a:p>
            <a:pPr lvl="1"/>
            <a:r>
              <a:rPr lang="vi-VN">
                <a:solidFill>
                  <a:srgbClr val="FF0000"/>
                </a:solidFill>
              </a:rPr>
              <a:t>"per_device_train_batch_size", [16, 32]</a:t>
            </a:r>
          </a:p>
          <a:p>
            <a:pPr lvl="1"/>
            <a:r>
              <a:rPr lang="vi-VN"/>
              <a:t>"weight_decay", 0.0, 0.3</a:t>
            </a:r>
          </a:p>
          <a:p>
            <a:r>
              <a:rPr lang="vi-VN">
                <a:solidFill>
                  <a:srgbClr val="FF0000"/>
                </a:solidFill>
              </a:rPr>
              <a:t>Random seed = 42 cho tất cả phương pháp</a:t>
            </a:r>
          </a:p>
          <a:p>
            <a:pPr lvl="1"/>
            <a:endParaRPr lang="vi-VN">
              <a:solidFill>
                <a:srgbClr val="FF0000"/>
              </a:solidFill>
            </a:endParaRPr>
          </a:p>
        </p:txBody>
      </p:sp>
    </p:spTree>
    <p:extLst>
      <p:ext uri="{BB962C8B-B14F-4D97-AF65-F5344CB8AC3E}">
        <p14:creationId xmlns:p14="http://schemas.microsoft.com/office/powerpoint/2010/main" val="161633357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A902A-1259-389E-77A0-940F2AC9C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3DDB7-2763-9CAF-BD5D-3530D26D9EFA}"/>
              </a:ext>
            </a:extLst>
          </p:cNvPr>
          <p:cNvSpPr>
            <a:spLocks noGrp="1"/>
          </p:cNvSpPr>
          <p:nvPr>
            <p:ph type="title"/>
          </p:nvPr>
        </p:nvSpPr>
        <p:spPr/>
        <p:txBody>
          <a:bodyPr/>
          <a:lstStyle/>
          <a:p>
            <a:r>
              <a:rPr lang="en-US" noProof="1"/>
              <a:t>Thực nghiệm &amp; Đánh giá</a:t>
            </a:r>
          </a:p>
        </p:txBody>
      </p:sp>
      <p:graphicFrame>
        <p:nvGraphicFramePr>
          <p:cNvPr id="5" name="Content Placeholder 4">
            <a:extLst>
              <a:ext uri="{FF2B5EF4-FFF2-40B4-BE49-F238E27FC236}">
                <a16:creationId xmlns:a16="http://schemas.microsoft.com/office/drawing/2014/main" id="{F2E3C46E-2FDD-31FF-C808-2F81F5E623B4}"/>
              </a:ext>
            </a:extLst>
          </p:cNvPr>
          <p:cNvGraphicFramePr>
            <a:graphicFrameLocks noGrp="1"/>
          </p:cNvGraphicFramePr>
          <p:nvPr>
            <p:ph idx="1"/>
            <p:extLst>
              <p:ext uri="{D42A27DB-BD31-4B8C-83A1-F6EECF244321}">
                <p14:modId xmlns:p14="http://schemas.microsoft.com/office/powerpoint/2010/main" val="3679724100"/>
              </p:ext>
            </p:extLst>
          </p:nvPr>
        </p:nvGraphicFramePr>
        <p:xfrm>
          <a:off x="643932" y="1295400"/>
          <a:ext cx="10972800" cy="4820920"/>
        </p:xfrm>
        <a:graphic>
          <a:graphicData uri="http://schemas.openxmlformats.org/drawingml/2006/table">
            <a:tbl>
              <a:tblPr firstRow="1" bandRow="1">
                <a:tableStyleId>{ED083AE6-46FA-4A59-8FB0-9F97EB10719F}</a:tableStyleId>
              </a:tblPr>
              <a:tblGrid>
                <a:gridCol w="2194560">
                  <a:extLst>
                    <a:ext uri="{9D8B030D-6E8A-4147-A177-3AD203B41FA5}">
                      <a16:colId xmlns:a16="http://schemas.microsoft.com/office/drawing/2014/main" val="150355842"/>
                    </a:ext>
                  </a:extLst>
                </a:gridCol>
                <a:gridCol w="2194560">
                  <a:extLst>
                    <a:ext uri="{9D8B030D-6E8A-4147-A177-3AD203B41FA5}">
                      <a16:colId xmlns:a16="http://schemas.microsoft.com/office/drawing/2014/main" val="490566563"/>
                    </a:ext>
                  </a:extLst>
                </a:gridCol>
                <a:gridCol w="2194560">
                  <a:extLst>
                    <a:ext uri="{9D8B030D-6E8A-4147-A177-3AD203B41FA5}">
                      <a16:colId xmlns:a16="http://schemas.microsoft.com/office/drawing/2014/main" val="3881429860"/>
                    </a:ext>
                  </a:extLst>
                </a:gridCol>
                <a:gridCol w="2194560">
                  <a:extLst>
                    <a:ext uri="{9D8B030D-6E8A-4147-A177-3AD203B41FA5}">
                      <a16:colId xmlns:a16="http://schemas.microsoft.com/office/drawing/2014/main" val="1559069196"/>
                    </a:ext>
                  </a:extLst>
                </a:gridCol>
                <a:gridCol w="2194560">
                  <a:extLst>
                    <a:ext uri="{9D8B030D-6E8A-4147-A177-3AD203B41FA5}">
                      <a16:colId xmlns:a16="http://schemas.microsoft.com/office/drawing/2014/main" val="930041405"/>
                    </a:ext>
                  </a:extLst>
                </a:gridCol>
              </a:tblGrid>
              <a:tr h="370840">
                <a:tc>
                  <a:txBody>
                    <a:bodyPr/>
                    <a:lstStyle/>
                    <a:p>
                      <a:pPr algn="ctr"/>
                      <a:endParaRPr lang="en-US" noProof="1"/>
                    </a:p>
                  </a:txBody>
                  <a:tcPr anchor="ctr"/>
                </a:tc>
                <a:tc>
                  <a:txBody>
                    <a:bodyPr/>
                    <a:lstStyle/>
                    <a:p>
                      <a:pPr algn="ctr"/>
                      <a:r>
                        <a:rPr lang="en-US" noProof="1"/>
                        <a:t>Model</a:t>
                      </a:r>
                    </a:p>
                  </a:txBody>
                  <a:tcPr anchor="ctr"/>
                </a:tc>
                <a:tc>
                  <a:txBody>
                    <a:bodyPr/>
                    <a:lstStyle/>
                    <a:p>
                      <a:pPr algn="ctr"/>
                      <a:r>
                        <a:rPr lang="en-US" noProof="1"/>
                        <a:t>Pre-trained model</a:t>
                      </a:r>
                    </a:p>
                  </a:txBody>
                  <a:tcPr anchor="ctr"/>
                </a:tc>
                <a:tc>
                  <a:txBody>
                    <a:bodyPr/>
                    <a:lstStyle/>
                    <a:p>
                      <a:pPr algn="ctr"/>
                      <a:r>
                        <a:rPr lang="en-US" noProof="1"/>
                        <a:t>Accuracy (%)</a:t>
                      </a:r>
                    </a:p>
                  </a:txBody>
                  <a:tcPr anchor="ctr"/>
                </a:tc>
                <a:tc>
                  <a:txBody>
                    <a:bodyPr/>
                    <a:lstStyle/>
                    <a:p>
                      <a:pPr algn="ctr"/>
                      <a:r>
                        <a:rPr lang="en-US" noProof="1"/>
                        <a:t>F1-macro (%)</a:t>
                      </a:r>
                    </a:p>
                  </a:txBody>
                  <a:tcPr anchor="ctr"/>
                </a:tc>
                <a:extLst>
                  <a:ext uri="{0D108BD9-81ED-4DB2-BD59-A6C34878D82A}">
                    <a16:rowId xmlns:a16="http://schemas.microsoft.com/office/drawing/2014/main" val="2653514905"/>
                  </a:ext>
                </a:extLst>
              </a:tr>
              <a:tr h="370840">
                <a:tc rowSpan="7">
                  <a:txBody>
                    <a:bodyPr/>
                    <a:lstStyle/>
                    <a:p>
                      <a:pPr algn="l"/>
                      <a:r>
                        <a:rPr lang="en-US" noProof="1"/>
                        <a:t>Machine Learning models</a:t>
                      </a:r>
                    </a:p>
                  </a:txBody>
                  <a:tcPr anchor="ctr">
                    <a:noFill/>
                  </a:tcPr>
                </a:tc>
                <a:tc>
                  <a:txBody>
                    <a:bodyPr/>
                    <a:lstStyle/>
                    <a:p>
                      <a:pPr algn="l"/>
                      <a:r>
                        <a:rPr lang="en-US" noProof="1"/>
                        <a:t>Logistic Regression</a:t>
                      </a:r>
                    </a:p>
                  </a:txBody>
                  <a:tcPr anchor="ctr">
                    <a:noFill/>
                  </a:tcPr>
                </a:tc>
                <a:tc>
                  <a:txBody>
                    <a:bodyPr/>
                    <a:lstStyle/>
                    <a:p>
                      <a:pPr algn="ctr"/>
                      <a:endParaRPr lang="en-US" noProof="1"/>
                    </a:p>
                  </a:txBody>
                  <a:tcPr anchor="ctr">
                    <a:noFill/>
                  </a:tcPr>
                </a:tc>
                <a:tc>
                  <a:txBody>
                    <a:bodyPr/>
                    <a:lstStyle/>
                    <a:p>
                      <a:pPr algn="ctr"/>
                      <a:r>
                        <a:rPr lang="en-US" noProof="1"/>
                        <a:t>70.41</a:t>
                      </a:r>
                    </a:p>
                  </a:txBody>
                  <a:tcPr anchor="ctr">
                    <a:noFill/>
                  </a:tcPr>
                </a:tc>
                <a:tc>
                  <a:txBody>
                    <a:bodyPr/>
                    <a:lstStyle/>
                    <a:p>
                      <a:pPr algn="ctr"/>
                      <a:r>
                        <a:rPr lang="en-US" noProof="1"/>
                        <a:t>70.57</a:t>
                      </a:r>
                    </a:p>
                  </a:txBody>
                  <a:tcPr anchor="ctr">
                    <a:noFill/>
                  </a:tcPr>
                </a:tc>
                <a:extLst>
                  <a:ext uri="{0D108BD9-81ED-4DB2-BD59-A6C34878D82A}">
                    <a16:rowId xmlns:a16="http://schemas.microsoft.com/office/drawing/2014/main" val="545579570"/>
                  </a:ext>
                </a:extLst>
              </a:tr>
              <a:tr h="370840">
                <a:tc vMerge="1">
                  <a:txBody>
                    <a:bodyPr/>
                    <a:lstStyle/>
                    <a:p>
                      <a:endParaRPr lang="en-US"/>
                    </a:p>
                  </a:txBody>
                  <a:tcPr/>
                </a:tc>
                <a:tc>
                  <a:txBody>
                    <a:bodyPr/>
                    <a:lstStyle/>
                    <a:p>
                      <a:pPr algn="l"/>
                      <a:r>
                        <a:rPr lang="en-US" noProof="1"/>
                        <a:t>SVM</a:t>
                      </a:r>
                    </a:p>
                  </a:txBody>
                  <a:tcPr anchor="ctr">
                    <a:solidFill>
                      <a:schemeClr val="bg1">
                        <a:lumMod val="85000"/>
                      </a:schemeClr>
                    </a:solidFill>
                  </a:tcPr>
                </a:tc>
                <a:tc>
                  <a:txBody>
                    <a:bodyPr/>
                    <a:lstStyle/>
                    <a:p>
                      <a:pPr algn="ctr"/>
                      <a:endParaRPr lang="en-US" noProof="1"/>
                    </a:p>
                  </a:txBody>
                  <a:tcPr anchor="ctr">
                    <a:solidFill>
                      <a:schemeClr val="bg1">
                        <a:lumMod val="85000"/>
                      </a:schemeClr>
                    </a:solidFill>
                  </a:tcPr>
                </a:tc>
                <a:tc>
                  <a:txBody>
                    <a:bodyPr/>
                    <a:lstStyle/>
                    <a:p>
                      <a:pPr algn="ctr"/>
                      <a:r>
                        <a:rPr lang="en-US" noProof="1"/>
                        <a:t>70.61</a:t>
                      </a:r>
                    </a:p>
                  </a:txBody>
                  <a:tcPr anchor="ctr">
                    <a:solidFill>
                      <a:schemeClr val="bg1">
                        <a:lumMod val="85000"/>
                      </a:schemeClr>
                    </a:solidFill>
                  </a:tcPr>
                </a:tc>
                <a:tc>
                  <a:txBody>
                    <a:bodyPr/>
                    <a:lstStyle/>
                    <a:p>
                      <a:pPr algn="ctr"/>
                      <a:r>
                        <a:rPr lang="en-US" noProof="1"/>
                        <a:t>70.67</a:t>
                      </a:r>
                    </a:p>
                  </a:txBody>
                  <a:tcPr anchor="ctr">
                    <a:solidFill>
                      <a:schemeClr val="bg1">
                        <a:lumMod val="85000"/>
                      </a:schemeClr>
                    </a:solidFill>
                  </a:tcPr>
                </a:tc>
                <a:extLst>
                  <a:ext uri="{0D108BD9-81ED-4DB2-BD59-A6C34878D82A}">
                    <a16:rowId xmlns:a16="http://schemas.microsoft.com/office/drawing/2014/main" val="1803624500"/>
                  </a:ext>
                </a:extLst>
              </a:tr>
              <a:tr h="370840">
                <a:tc vMerge="1">
                  <a:txBody>
                    <a:bodyPr/>
                    <a:lstStyle/>
                    <a:p>
                      <a:endParaRPr lang="en-US"/>
                    </a:p>
                  </a:txBody>
                  <a:tcPr/>
                </a:tc>
                <a:tc>
                  <a:txBody>
                    <a:bodyPr/>
                    <a:lstStyle/>
                    <a:p>
                      <a:pPr algn="l"/>
                      <a:r>
                        <a:rPr lang="en-US" noProof="1"/>
                        <a:t>Naive Bayes</a:t>
                      </a:r>
                    </a:p>
                  </a:txBody>
                  <a:tcPr anchor="ctr">
                    <a:noFill/>
                  </a:tcPr>
                </a:tc>
                <a:tc>
                  <a:txBody>
                    <a:bodyPr/>
                    <a:lstStyle/>
                    <a:p>
                      <a:pPr algn="ctr"/>
                      <a:endParaRPr lang="en-US" noProof="1"/>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noProof="1">
                          <a:solidFill>
                            <a:schemeClr val="tx1"/>
                          </a:solidFill>
                          <a:effectLst/>
                          <a:latin typeface="+mn-lt"/>
                          <a:ea typeface="+mn-ea"/>
                          <a:cs typeface="+mn-cs"/>
                        </a:rPr>
                        <a:t>71.43</a:t>
                      </a:r>
                      <a:endParaRPr lang="en-US" noProof="1"/>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noProof="1">
                          <a:solidFill>
                            <a:schemeClr val="tx1"/>
                          </a:solidFill>
                          <a:effectLst/>
                          <a:latin typeface="+mn-lt"/>
                          <a:ea typeface="+mn-ea"/>
                          <a:cs typeface="+mn-cs"/>
                        </a:rPr>
                        <a:t>71.12</a:t>
                      </a:r>
                      <a:endParaRPr lang="en-US" noProof="1"/>
                    </a:p>
                  </a:txBody>
                  <a:tcPr anchor="ctr">
                    <a:noFill/>
                  </a:tcPr>
                </a:tc>
                <a:extLst>
                  <a:ext uri="{0D108BD9-81ED-4DB2-BD59-A6C34878D82A}">
                    <a16:rowId xmlns:a16="http://schemas.microsoft.com/office/drawing/2014/main" val="3446037628"/>
                  </a:ext>
                </a:extLst>
              </a:tr>
              <a:tr h="370840">
                <a:tc vMerge="1">
                  <a:txBody>
                    <a:bodyPr/>
                    <a:lstStyle/>
                    <a:p>
                      <a:endParaRPr lang="en-US"/>
                    </a:p>
                  </a:txBody>
                  <a:tcPr/>
                </a:tc>
                <a:tc>
                  <a:txBody>
                    <a:bodyPr/>
                    <a:lstStyle/>
                    <a:p>
                      <a:pPr algn="l"/>
                      <a:r>
                        <a:rPr lang="en-US" noProof="1"/>
                        <a:t>Descision Tree</a:t>
                      </a:r>
                    </a:p>
                  </a:txBody>
                  <a:tcPr anchor="ctr">
                    <a:solidFill>
                      <a:schemeClr val="bg1">
                        <a:lumMod val="85000"/>
                      </a:schemeClr>
                    </a:solidFill>
                  </a:tcPr>
                </a:tc>
                <a:tc>
                  <a:txBody>
                    <a:bodyPr/>
                    <a:lstStyle/>
                    <a:p>
                      <a:pPr algn="ctr"/>
                      <a:endParaRPr lang="en-US" noProof="1"/>
                    </a:p>
                  </a:txBody>
                  <a:tcPr anchor="ctr">
                    <a:solidFill>
                      <a:schemeClr val="bg1">
                        <a:lumMod val="85000"/>
                      </a:schemeClr>
                    </a:solidFill>
                  </a:tcPr>
                </a:tc>
                <a:tc>
                  <a:txBody>
                    <a:bodyPr/>
                    <a:lstStyle/>
                    <a:p>
                      <a:pPr algn="ctr"/>
                      <a:r>
                        <a:rPr lang="en-US" sz="1800" b="0" i="0" kern="1200" noProof="1">
                          <a:solidFill>
                            <a:schemeClr val="tx1"/>
                          </a:solidFill>
                          <a:effectLst/>
                          <a:latin typeface="+mn-lt"/>
                          <a:ea typeface="+mn-ea"/>
                          <a:cs typeface="+mn-cs"/>
                        </a:rPr>
                        <a:t>54.69</a:t>
                      </a:r>
                      <a:endParaRPr lang="en-US" noProof="1"/>
                    </a:p>
                  </a:txBody>
                  <a:tcPr anchor="ctr">
                    <a:solidFill>
                      <a:schemeClr val="bg1">
                        <a:lumMod val="85000"/>
                      </a:schemeClr>
                    </a:solidFill>
                  </a:tcPr>
                </a:tc>
                <a:tc>
                  <a:txBody>
                    <a:bodyPr/>
                    <a:lstStyle/>
                    <a:p>
                      <a:pPr algn="ctr"/>
                      <a:r>
                        <a:rPr lang="en-US" sz="1800" b="0" i="0" kern="1200" noProof="1">
                          <a:solidFill>
                            <a:schemeClr val="tx1"/>
                          </a:solidFill>
                          <a:effectLst/>
                          <a:latin typeface="+mn-lt"/>
                          <a:ea typeface="+mn-ea"/>
                          <a:cs typeface="+mn-cs"/>
                        </a:rPr>
                        <a:t>53.83</a:t>
                      </a:r>
                      <a:endParaRPr lang="en-US" noProof="1"/>
                    </a:p>
                  </a:txBody>
                  <a:tcPr anchor="ctr">
                    <a:solidFill>
                      <a:schemeClr val="bg1">
                        <a:lumMod val="85000"/>
                      </a:schemeClr>
                    </a:solidFill>
                  </a:tcPr>
                </a:tc>
                <a:extLst>
                  <a:ext uri="{0D108BD9-81ED-4DB2-BD59-A6C34878D82A}">
                    <a16:rowId xmlns:a16="http://schemas.microsoft.com/office/drawing/2014/main" val="1069903597"/>
                  </a:ext>
                </a:extLst>
              </a:tr>
              <a:tr h="370840">
                <a:tc vMerge="1">
                  <a:txBody>
                    <a:bodyPr/>
                    <a:lstStyle/>
                    <a:p>
                      <a:endParaRPr lang="en-US"/>
                    </a:p>
                  </a:txBody>
                  <a:tcPr/>
                </a:tc>
                <a:tc>
                  <a:txBody>
                    <a:bodyPr/>
                    <a:lstStyle/>
                    <a:p>
                      <a:pPr algn="l"/>
                      <a:r>
                        <a:rPr lang="en-US" noProof="1"/>
                        <a:t>KNN</a:t>
                      </a:r>
                    </a:p>
                  </a:txBody>
                  <a:tcPr anchor="ctr">
                    <a:noFill/>
                  </a:tcPr>
                </a:tc>
                <a:tc>
                  <a:txBody>
                    <a:bodyPr/>
                    <a:lstStyle/>
                    <a:p>
                      <a:pPr algn="ctr"/>
                      <a:endParaRPr lang="en-US" noProof="1"/>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noProof="1">
                          <a:solidFill>
                            <a:schemeClr val="tx1"/>
                          </a:solidFill>
                          <a:effectLst/>
                          <a:latin typeface="+mn-lt"/>
                          <a:ea typeface="+mn-ea"/>
                          <a:cs typeface="+mn-cs"/>
                        </a:rPr>
                        <a:t>66.33</a:t>
                      </a:r>
                      <a:endParaRPr lang="en-US" noProof="1"/>
                    </a:p>
                  </a:txBody>
                  <a:tcPr anchor="ctr">
                    <a:noFill/>
                  </a:tcPr>
                </a:tc>
                <a:tc>
                  <a:txBody>
                    <a:bodyPr/>
                    <a:lstStyle/>
                    <a:p>
                      <a:pPr algn="ctr"/>
                      <a:r>
                        <a:rPr lang="en-US" sz="1800" b="0" i="0" kern="1200" noProof="1">
                          <a:solidFill>
                            <a:schemeClr val="tx1"/>
                          </a:solidFill>
                          <a:effectLst/>
                          <a:latin typeface="+mn-lt"/>
                          <a:ea typeface="+mn-ea"/>
                          <a:cs typeface="+mn-cs"/>
                        </a:rPr>
                        <a:t>65.93</a:t>
                      </a:r>
                      <a:endParaRPr lang="en-US" noProof="1"/>
                    </a:p>
                  </a:txBody>
                  <a:tcPr anchor="ctr">
                    <a:noFill/>
                  </a:tcPr>
                </a:tc>
                <a:extLst>
                  <a:ext uri="{0D108BD9-81ED-4DB2-BD59-A6C34878D82A}">
                    <a16:rowId xmlns:a16="http://schemas.microsoft.com/office/drawing/2014/main" val="4105643777"/>
                  </a:ext>
                </a:extLst>
              </a:tr>
              <a:tr h="370840">
                <a:tc vMerge="1">
                  <a:txBody>
                    <a:bodyPr/>
                    <a:lstStyle/>
                    <a:p>
                      <a:endParaRPr lang="en-US"/>
                    </a:p>
                  </a:txBody>
                  <a:tcPr/>
                </a:tc>
                <a:tc>
                  <a:txBody>
                    <a:bodyPr/>
                    <a:lstStyle/>
                    <a:p>
                      <a:pPr algn="l"/>
                      <a:r>
                        <a:rPr lang="en-US" noProof="1"/>
                        <a:t>XGBoost</a:t>
                      </a:r>
                    </a:p>
                  </a:txBody>
                  <a:tcPr anchor="ctr">
                    <a:solidFill>
                      <a:schemeClr val="bg1">
                        <a:lumMod val="85000"/>
                      </a:schemeClr>
                    </a:solidFill>
                  </a:tcPr>
                </a:tc>
                <a:tc>
                  <a:txBody>
                    <a:bodyPr/>
                    <a:lstStyle/>
                    <a:p>
                      <a:pPr algn="ctr"/>
                      <a:endParaRPr lang="en-US" noProof="1"/>
                    </a:p>
                  </a:txBody>
                  <a:tcPr anchor="ctr">
                    <a:solidFill>
                      <a:schemeClr val="bg1">
                        <a:lumMod val="85000"/>
                      </a:schemeClr>
                    </a:solidFill>
                  </a:tcPr>
                </a:tc>
                <a:tc>
                  <a:txBody>
                    <a:bodyPr/>
                    <a:lstStyle/>
                    <a:p>
                      <a:pPr algn="ctr"/>
                      <a:r>
                        <a:rPr lang="en-US" noProof="1"/>
                        <a:t>63.27</a:t>
                      </a:r>
                    </a:p>
                  </a:txBody>
                  <a:tcPr anchor="ctr">
                    <a:solidFill>
                      <a:schemeClr val="bg1">
                        <a:lumMod val="85000"/>
                      </a:schemeClr>
                    </a:solidFill>
                  </a:tcPr>
                </a:tc>
                <a:tc>
                  <a:txBody>
                    <a:bodyPr/>
                    <a:lstStyle/>
                    <a:p>
                      <a:pPr algn="ctr"/>
                      <a:r>
                        <a:rPr lang="en-US" noProof="1"/>
                        <a:t>62.82</a:t>
                      </a:r>
                    </a:p>
                  </a:txBody>
                  <a:tcPr anchor="ctr">
                    <a:solidFill>
                      <a:schemeClr val="bg1">
                        <a:lumMod val="85000"/>
                      </a:schemeClr>
                    </a:solidFill>
                  </a:tcPr>
                </a:tc>
                <a:extLst>
                  <a:ext uri="{0D108BD9-81ED-4DB2-BD59-A6C34878D82A}">
                    <a16:rowId xmlns:a16="http://schemas.microsoft.com/office/drawing/2014/main" val="540706254"/>
                  </a:ext>
                </a:extLst>
              </a:tr>
              <a:tr h="370840">
                <a:tc vMerge="1">
                  <a:txBody>
                    <a:bodyPr/>
                    <a:lstStyle/>
                    <a:p>
                      <a:pPr algn="l"/>
                      <a:endParaRPr lang="en-US"/>
                    </a:p>
                  </a:txBody>
                  <a:tcPr anchor="ctr">
                    <a:noFill/>
                  </a:tcPr>
                </a:tc>
                <a:tc>
                  <a:txBody>
                    <a:bodyPr/>
                    <a:lstStyle/>
                    <a:p>
                      <a:pPr algn="l"/>
                      <a:r>
                        <a:rPr lang="en-US" noProof="1"/>
                        <a:t>Random Forest</a:t>
                      </a:r>
                    </a:p>
                  </a:txBody>
                  <a:tcPr anchor="ctr">
                    <a:noFill/>
                  </a:tcPr>
                </a:tc>
                <a:tc>
                  <a:txBody>
                    <a:bodyPr/>
                    <a:lstStyle/>
                    <a:p>
                      <a:pPr algn="ctr"/>
                      <a:endParaRPr lang="en-US" noProof="1"/>
                    </a:p>
                  </a:txBody>
                  <a:tcPr anchor="ctr">
                    <a:noFill/>
                  </a:tcPr>
                </a:tc>
                <a:tc>
                  <a:txBody>
                    <a:bodyPr/>
                    <a:lstStyle/>
                    <a:p>
                      <a:pPr algn="ctr"/>
                      <a:r>
                        <a:rPr lang="en-US" sz="1800" b="0" i="0" u="sng" kern="1200" noProof="1">
                          <a:solidFill>
                            <a:schemeClr val="tx1"/>
                          </a:solidFill>
                          <a:effectLst/>
                          <a:latin typeface="+mn-lt"/>
                          <a:ea typeface="+mn-ea"/>
                          <a:cs typeface="+mn-cs"/>
                        </a:rPr>
                        <a:t>71.84</a:t>
                      </a:r>
                      <a:endParaRPr lang="en-US" u="sng" noProof="1"/>
                    </a:p>
                  </a:txBody>
                  <a:tcPr anchor="ctr">
                    <a:noFill/>
                  </a:tcPr>
                </a:tc>
                <a:tc>
                  <a:txBody>
                    <a:bodyPr/>
                    <a:lstStyle/>
                    <a:p>
                      <a:pPr algn="ctr"/>
                      <a:r>
                        <a:rPr lang="en-US" sz="1800" b="0" i="0" kern="1200" noProof="1">
                          <a:solidFill>
                            <a:schemeClr val="tx1"/>
                          </a:solidFill>
                          <a:effectLst/>
                          <a:latin typeface="+mn-lt"/>
                          <a:ea typeface="+mn-ea"/>
                          <a:cs typeface="+mn-cs"/>
                        </a:rPr>
                        <a:t>71.73</a:t>
                      </a:r>
                      <a:endParaRPr lang="en-US" noProof="1"/>
                    </a:p>
                  </a:txBody>
                  <a:tcPr anchor="ctr">
                    <a:noFill/>
                  </a:tcPr>
                </a:tc>
                <a:extLst>
                  <a:ext uri="{0D108BD9-81ED-4DB2-BD59-A6C34878D82A}">
                    <a16:rowId xmlns:a16="http://schemas.microsoft.com/office/drawing/2014/main" val="1627667912"/>
                  </a:ext>
                </a:extLst>
              </a:tr>
              <a:tr h="370840">
                <a:tc rowSpan="2">
                  <a:txBody>
                    <a:bodyPr/>
                    <a:lstStyle/>
                    <a:p>
                      <a:pPr algn="l"/>
                      <a:r>
                        <a:rPr lang="en-US" noProof="1"/>
                        <a:t>Deep Learning models</a:t>
                      </a:r>
                    </a:p>
                  </a:txBody>
                  <a:tcPr anchor="ctr">
                    <a:noFill/>
                  </a:tcPr>
                </a:tc>
                <a:tc>
                  <a:txBody>
                    <a:bodyPr/>
                    <a:lstStyle/>
                    <a:p>
                      <a:pPr algn="l"/>
                      <a:r>
                        <a:rPr lang="en-US" noProof="1"/>
                        <a:t>Text CNN</a:t>
                      </a:r>
                    </a:p>
                  </a:txBody>
                  <a:tcPr anchor="ctr">
                    <a:solidFill>
                      <a:schemeClr val="bg1">
                        <a:lumMod val="85000"/>
                      </a:schemeClr>
                    </a:solidFill>
                  </a:tcPr>
                </a:tc>
                <a:tc>
                  <a:txBody>
                    <a:bodyPr/>
                    <a:lstStyle/>
                    <a:p>
                      <a:pPr algn="ctr"/>
                      <a:endParaRPr lang="en-US" noProof="1"/>
                    </a:p>
                  </a:txBody>
                  <a:tcPr anchor="ctr">
                    <a:solidFill>
                      <a:schemeClr val="bg1">
                        <a:lumMod val="85000"/>
                      </a:schemeClr>
                    </a:solidFill>
                  </a:tcPr>
                </a:tc>
                <a:tc>
                  <a:txBody>
                    <a:bodyPr/>
                    <a:lstStyle/>
                    <a:p>
                      <a:pPr algn="ctr"/>
                      <a:r>
                        <a:rPr lang="en-US" noProof="1"/>
                        <a:t>70.71</a:t>
                      </a:r>
                    </a:p>
                  </a:txBody>
                  <a:tcPr anchor="ctr">
                    <a:solidFill>
                      <a:schemeClr val="bg1">
                        <a:lumMod val="85000"/>
                      </a:schemeClr>
                    </a:solidFill>
                  </a:tcPr>
                </a:tc>
                <a:tc>
                  <a:txBody>
                    <a:bodyPr/>
                    <a:lstStyle/>
                    <a:p>
                      <a:pPr algn="ctr"/>
                      <a:r>
                        <a:rPr lang="en-US" noProof="1"/>
                        <a:t>70.29</a:t>
                      </a:r>
                    </a:p>
                  </a:txBody>
                  <a:tcPr anchor="ctr">
                    <a:solidFill>
                      <a:schemeClr val="bg1">
                        <a:lumMod val="85000"/>
                      </a:schemeClr>
                    </a:solidFill>
                  </a:tcPr>
                </a:tc>
                <a:extLst>
                  <a:ext uri="{0D108BD9-81ED-4DB2-BD59-A6C34878D82A}">
                    <a16:rowId xmlns:a16="http://schemas.microsoft.com/office/drawing/2014/main" val="3991515916"/>
                  </a:ext>
                </a:extLst>
              </a:tr>
              <a:tr h="370840">
                <a:tc vMerge="1">
                  <a:txBody>
                    <a:bodyPr/>
                    <a:lstStyle/>
                    <a:p>
                      <a:endParaRPr lang="en-US"/>
                    </a:p>
                  </a:txBody>
                  <a:tcPr>
                    <a:noFill/>
                  </a:tcPr>
                </a:tc>
                <a:tc>
                  <a:txBody>
                    <a:bodyPr/>
                    <a:lstStyle/>
                    <a:p>
                      <a:pPr algn="l"/>
                      <a:r>
                        <a:rPr lang="en-US" noProof="1"/>
                        <a:t>GRU</a:t>
                      </a:r>
                    </a:p>
                  </a:txBody>
                  <a:tcPr anchor="ctr">
                    <a:noFill/>
                  </a:tcPr>
                </a:tc>
                <a:tc>
                  <a:txBody>
                    <a:bodyPr/>
                    <a:lstStyle/>
                    <a:p>
                      <a:pPr algn="ctr"/>
                      <a:endParaRPr lang="en-US" noProof="1"/>
                    </a:p>
                  </a:txBody>
                  <a:tcPr anchor="ctr">
                    <a:noFill/>
                  </a:tcPr>
                </a:tc>
                <a:tc>
                  <a:txBody>
                    <a:bodyPr/>
                    <a:lstStyle/>
                    <a:p>
                      <a:pPr algn="ctr"/>
                      <a:r>
                        <a:rPr lang="en-US" u="sng" noProof="1"/>
                        <a:t>71.84</a:t>
                      </a:r>
                    </a:p>
                  </a:txBody>
                  <a:tcPr anchor="ctr">
                    <a:noFill/>
                  </a:tcPr>
                </a:tc>
                <a:tc>
                  <a:txBody>
                    <a:bodyPr/>
                    <a:lstStyle/>
                    <a:p>
                      <a:pPr algn="ctr"/>
                      <a:r>
                        <a:rPr lang="en-US" noProof="1"/>
                        <a:t>72.03</a:t>
                      </a:r>
                    </a:p>
                  </a:txBody>
                  <a:tcPr anchor="ctr">
                    <a:noFill/>
                  </a:tcPr>
                </a:tc>
                <a:extLst>
                  <a:ext uri="{0D108BD9-81ED-4DB2-BD59-A6C34878D82A}">
                    <a16:rowId xmlns:a16="http://schemas.microsoft.com/office/drawing/2014/main" val="2215586490"/>
                  </a:ext>
                </a:extLst>
              </a:tr>
              <a:tr h="370840">
                <a:tc rowSpan="2">
                  <a:txBody>
                    <a:bodyPr/>
                    <a:lstStyle/>
                    <a:p>
                      <a:pPr algn="l"/>
                      <a:r>
                        <a:rPr lang="en-US" noProof="1"/>
                        <a:t>Transformer models</a:t>
                      </a:r>
                    </a:p>
                  </a:txBody>
                  <a:tcPr anchor="ctr">
                    <a:noFill/>
                  </a:tcPr>
                </a:tc>
                <a:tc>
                  <a:txBody>
                    <a:bodyPr/>
                    <a:lstStyle/>
                    <a:p>
                      <a:pPr algn="l"/>
                      <a:r>
                        <a:rPr lang="en-US" noProof="1"/>
                        <a:t>BERT</a:t>
                      </a:r>
                    </a:p>
                  </a:txBody>
                  <a:tcPr anchor="ctr">
                    <a:solidFill>
                      <a:schemeClr val="bg1">
                        <a:lumMod val="85000"/>
                      </a:schemeClr>
                    </a:solidFill>
                  </a:tcPr>
                </a:tc>
                <a:tc>
                  <a:txBody>
                    <a:bodyPr/>
                    <a:lstStyle/>
                    <a:p>
                      <a:pPr algn="ctr"/>
                      <a:r>
                        <a:rPr lang="en-US" noProof="1"/>
                        <a:t>bert-base-multilingual-cased</a:t>
                      </a:r>
                    </a:p>
                  </a:txBody>
                  <a:tcPr anchor="ctr">
                    <a:solidFill>
                      <a:schemeClr val="bg1">
                        <a:lumMod val="85000"/>
                      </a:schemeClr>
                    </a:solidFill>
                  </a:tcPr>
                </a:tc>
                <a:tc>
                  <a:txBody>
                    <a:bodyPr/>
                    <a:lstStyle/>
                    <a:p>
                      <a:pPr algn="ctr"/>
                      <a:r>
                        <a:rPr lang="en-US" sz="2500" b="1" noProof="1"/>
                        <a:t>75.92</a:t>
                      </a:r>
                    </a:p>
                  </a:txBody>
                  <a:tcPr anchor="ctr">
                    <a:solidFill>
                      <a:schemeClr val="bg1">
                        <a:lumMod val="85000"/>
                      </a:schemeClr>
                    </a:solidFill>
                  </a:tcPr>
                </a:tc>
                <a:tc>
                  <a:txBody>
                    <a:bodyPr/>
                    <a:lstStyle/>
                    <a:p>
                      <a:pPr algn="ctr"/>
                      <a:r>
                        <a:rPr lang="en-US" u="sng" noProof="1"/>
                        <a:t>75.86</a:t>
                      </a:r>
                    </a:p>
                  </a:txBody>
                  <a:tcPr anchor="ctr">
                    <a:solidFill>
                      <a:schemeClr val="bg1">
                        <a:lumMod val="85000"/>
                      </a:schemeClr>
                    </a:solidFill>
                  </a:tcPr>
                </a:tc>
                <a:extLst>
                  <a:ext uri="{0D108BD9-81ED-4DB2-BD59-A6C34878D82A}">
                    <a16:rowId xmlns:a16="http://schemas.microsoft.com/office/drawing/2014/main" val="2483556588"/>
                  </a:ext>
                </a:extLst>
              </a:tr>
              <a:tr h="370840">
                <a:tc vMerge="1">
                  <a:txBody>
                    <a:bodyPr/>
                    <a:lstStyle/>
                    <a:p>
                      <a:endParaRPr lang="en-US"/>
                    </a:p>
                  </a:txBody>
                  <a:tcPr>
                    <a:noFill/>
                  </a:tcPr>
                </a:tc>
                <a:tc>
                  <a:txBody>
                    <a:bodyPr/>
                    <a:lstStyle/>
                    <a:p>
                      <a:pPr algn="l"/>
                      <a:r>
                        <a:rPr lang="en-US" noProof="1"/>
                        <a:t>PhoBERT</a:t>
                      </a:r>
                    </a:p>
                  </a:txBody>
                  <a:tcPr anchor="ctr">
                    <a:noFill/>
                  </a:tcPr>
                </a:tc>
                <a:tc>
                  <a:txBody>
                    <a:bodyPr/>
                    <a:lstStyle/>
                    <a:p>
                      <a:pPr algn="ctr"/>
                      <a:r>
                        <a:rPr lang="en-US" noProof="1"/>
                        <a:t>phobert-base-v2</a:t>
                      </a:r>
                    </a:p>
                  </a:txBody>
                  <a:tcPr anchor="ctr">
                    <a:noFill/>
                  </a:tcPr>
                </a:tc>
                <a:tc>
                  <a:txBody>
                    <a:bodyPr/>
                    <a:lstStyle/>
                    <a:p>
                      <a:pPr algn="ctr"/>
                      <a:r>
                        <a:rPr lang="en-US" sz="2500" b="1" noProof="1"/>
                        <a:t>75.92</a:t>
                      </a:r>
                    </a:p>
                  </a:txBody>
                  <a:tcPr anchor="ctr">
                    <a:noFill/>
                  </a:tcPr>
                </a:tc>
                <a:tc>
                  <a:txBody>
                    <a:bodyPr/>
                    <a:lstStyle/>
                    <a:p>
                      <a:pPr algn="ctr"/>
                      <a:r>
                        <a:rPr lang="en-US" sz="2500" b="1" noProof="1">
                          <a:latin typeface="+mn-lt"/>
                        </a:rPr>
                        <a:t>76.11</a:t>
                      </a:r>
                    </a:p>
                  </a:txBody>
                  <a:tcPr anchor="ctr">
                    <a:noFill/>
                  </a:tcPr>
                </a:tc>
                <a:extLst>
                  <a:ext uri="{0D108BD9-81ED-4DB2-BD59-A6C34878D82A}">
                    <a16:rowId xmlns:a16="http://schemas.microsoft.com/office/drawing/2014/main" val="2594661194"/>
                  </a:ext>
                </a:extLst>
              </a:tr>
            </a:tbl>
          </a:graphicData>
        </a:graphic>
      </p:graphicFrame>
    </p:spTree>
    <p:extLst>
      <p:ext uri="{BB962C8B-B14F-4D97-AF65-F5344CB8AC3E}">
        <p14:creationId xmlns:p14="http://schemas.microsoft.com/office/powerpoint/2010/main" val="83586353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3148-56A3-6E31-754A-30B319C16097}"/>
              </a:ext>
            </a:extLst>
          </p:cNvPr>
          <p:cNvSpPr>
            <a:spLocks noGrp="1"/>
          </p:cNvSpPr>
          <p:nvPr>
            <p:ph type="title"/>
          </p:nvPr>
        </p:nvSpPr>
        <p:spPr/>
        <p:txBody>
          <a:bodyPr/>
          <a:lstStyle/>
          <a:p>
            <a:r>
              <a:rPr lang="en-US"/>
              <a:t>Thực nghiệm &amp; Đánh giá</a:t>
            </a:r>
          </a:p>
        </p:txBody>
      </p:sp>
      <p:pic>
        <p:nvPicPr>
          <p:cNvPr id="5" name="Content Placeholder 4">
            <a:extLst>
              <a:ext uri="{FF2B5EF4-FFF2-40B4-BE49-F238E27FC236}">
                <a16:creationId xmlns:a16="http://schemas.microsoft.com/office/drawing/2014/main" id="{9BD16BBC-1AFF-D48A-887E-B11CF39283DE}"/>
              </a:ext>
            </a:extLst>
          </p:cNvPr>
          <p:cNvPicPr>
            <a:picLocks noGrp="1" noChangeAspect="1"/>
          </p:cNvPicPr>
          <p:nvPr>
            <p:ph idx="1"/>
          </p:nvPr>
        </p:nvPicPr>
        <p:blipFill>
          <a:blip r:embed="rId2"/>
          <a:stretch>
            <a:fillRect/>
          </a:stretch>
        </p:blipFill>
        <p:spPr bwMode="auto">
          <a:xfrm>
            <a:off x="3576036" y="1600200"/>
            <a:ext cx="503992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8153500"/>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AA57-41DE-4930-2DD6-0DA0ABFE9050}"/>
              </a:ext>
            </a:extLst>
          </p:cNvPr>
          <p:cNvSpPr>
            <a:spLocks noGrp="1"/>
          </p:cNvSpPr>
          <p:nvPr>
            <p:ph type="title"/>
          </p:nvPr>
        </p:nvSpPr>
        <p:spPr/>
        <p:txBody>
          <a:bodyPr/>
          <a:lstStyle/>
          <a:p>
            <a:r>
              <a:rPr lang="en-US"/>
              <a:t>Thực nghiệm &amp; Đánh giá</a:t>
            </a:r>
          </a:p>
        </p:txBody>
      </p:sp>
      <p:graphicFrame>
        <p:nvGraphicFramePr>
          <p:cNvPr id="4" name="Content Placeholder 3">
            <a:extLst>
              <a:ext uri="{FF2B5EF4-FFF2-40B4-BE49-F238E27FC236}">
                <a16:creationId xmlns:a16="http://schemas.microsoft.com/office/drawing/2014/main" id="{11C1A290-69A6-E209-87EE-E8438DDB3229}"/>
              </a:ext>
            </a:extLst>
          </p:cNvPr>
          <p:cNvGraphicFramePr>
            <a:graphicFrameLocks noGrp="1"/>
          </p:cNvGraphicFramePr>
          <p:nvPr>
            <p:ph idx="1"/>
            <p:extLst>
              <p:ext uri="{D42A27DB-BD31-4B8C-83A1-F6EECF244321}">
                <p14:modId xmlns:p14="http://schemas.microsoft.com/office/powerpoint/2010/main" val="3253971255"/>
              </p:ext>
            </p:extLst>
          </p:nvPr>
        </p:nvGraphicFramePr>
        <p:xfrm>
          <a:off x="609600" y="1600200"/>
          <a:ext cx="10996112" cy="4485640"/>
        </p:xfrm>
        <a:graphic>
          <a:graphicData uri="http://schemas.openxmlformats.org/drawingml/2006/table">
            <a:tbl>
              <a:tblPr firstRow="1" bandRow="1">
                <a:tableStyleId>{ED083AE6-46FA-4A59-8FB0-9F97EB10719F}</a:tableStyleId>
              </a:tblPr>
              <a:tblGrid>
                <a:gridCol w="373380">
                  <a:extLst>
                    <a:ext uri="{9D8B030D-6E8A-4147-A177-3AD203B41FA5}">
                      <a16:colId xmlns:a16="http://schemas.microsoft.com/office/drawing/2014/main" val="3978365393"/>
                    </a:ext>
                  </a:extLst>
                </a:gridCol>
                <a:gridCol w="4375404">
                  <a:extLst>
                    <a:ext uri="{9D8B030D-6E8A-4147-A177-3AD203B41FA5}">
                      <a16:colId xmlns:a16="http://schemas.microsoft.com/office/drawing/2014/main" val="3327691341"/>
                    </a:ext>
                  </a:extLst>
                </a:gridCol>
                <a:gridCol w="1517904">
                  <a:extLst>
                    <a:ext uri="{9D8B030D-6E8A-4147-A177-3AD203B41FA5}">
                      <a16:colId xmlns:a16="http://schemas.microsoft.com/office/drawing/2014/main" val="239510281"/>
                    </a:ext>
                  </a:extLst>
                </a:gridCol>
                <a:gridCol w="1485775">
                  <a:extLst>
                    <a:ext uri="{9D8B030D-6E8A-4147-A177-3AD203B41FA5}">
                      <a16:colId xmlns:a16="http://schemas.microsoft.com/office/drawing/2014/main" val="2051390444"/>
                    </a:ext>
                  </a:extLst>
                </a:gridCol>
                <a:gridCol w="3243649">
                  <a:extLst>
                    <a:ext uri="{9D8B030D-6E8A-4147-A177-3AD203B41FA5}">
                      <a16:colId xmlns:a16="http://schemas.microsoft.com/office/drawing/2014/main" val="1864090029"/>
                    </a:ext>
                  </a:extLst>
                </a:gridCol>
              </a:tblGrid>
              <a:tr h="370840">
                <a:tc>
                  <a:txBody>
                    <a:bodyPr/>
                    <a:lstStyle/>
                    <a:p>
                      <a:r>
                        <a:rPr lang="vi-VN"/>
                        <a:t>#</a:t>
                      </a:r>
                    </a:p>
                  </a:txBody>
                  <a:tcPr/>
                </a:tc>
                <a:tc>
                  <a:txBody>
                    <a:bodyPr/>
                    <a:lstStyle/>
                    <a:p>
                      <a:r>
                        <a:rPr lang="vi-VN"/>
                        <a:t>Nội dung</a:t>
                      </a:r>
                      <a:endParaRPr lang="en-US"/>
                    </a:p>
                  </a:txBody>
                  <a:tcPr/>
                </a:tc>
                <a:tc>
                  <a:txBody>
                    <a:bodyPr/>
                    <a:lstStyle/>
                    <a:p>
                      <a:r>
                        <a:rPr lang="vi-VN"/>
                        <a:t>True label</a:t>
                      </a:r>
                      <a:endParaRPr lang="en-US"/>
                    </a:p>
                  </a:txBody>
                  <a:tcPr/>
                </a:tc>
                <a:tc>
                  <a:txBody>
                    <a:bodyPr/>
                    <a:lstStyle/>
                    <a:p>
                      <a:r>
                        <a:rPr lang="vi-VN"/>
                        <a:t>Pred label</a:t>
                      </a:r>
                      <a:endParaRPr lang="en-US"/>
                    </a:p>
                  </a:txBody>
                  <a:tcPr/>
                </a:tc>
                <a:tc>
                  <a:txBody>
                    <a:bodyPr/>
                    <a:lstStyle/>
                    <a:p>
                      <a:r>
                        <a:rPr lang="vi-VN"/>
                        <a:t>Lí do</a:t>
                      </a:r>
                      <a:endParaRPr lang="en-US"/>
                    </a:p>
                  </a:txBody>
                  <a:tcPr/>
                </a:tc>
                <a:extLst>
                  <a:ext uri="{0D108BD9-81ED-4DB2-BD59-A6C34878D82A}">
                    <a16:rowId xmlns:a16="http://schemas.microsoft.com/office/drawing/2014/main" val="2693234397"/>
                  </a:ext>
                </a:extLst>
              </a:tr>
              <a:tr h="370840">
                <a:tc>
                  <a:txBody>
                    <a:bodyPr/>
                    <a:lstStyle/>
                    <a:p>
                      <a:r>
                        <a:rPr lang="vi-VN"/>
                        <a:t>1</a:t>
                      </a:r>
                      <a:endParaRPr lang="en-US"/>
                    </a:p>
                  </a:txBody>
                  <a:tcPr/>
                </a:tc>
                <a:tc>
                  <a:txBody>
                    <a:bodyPr/>
                    <a:lstStyle/>
                    <a:p>
                      <a:r>
                        <a:rPr lang="vi-VN"/>
                        <a:t>loài côn_trùng bé hạt gạo </a:t>
                      </a:r>
                      <a:r>
                        <a:rPr lang="vi-VN">
                          <a:highlight>
                            <a:srgbClr val="FFFF00"/>
                          </a:highlight>
                        </a:rPr>
                        <a:t>độc_tính</a:t>
                      </a:r>
                      <a:r>
                        <a:rPr lang="vi-VN"/>
                        <a:t> gấp nọc rắn hổ kiến khoang chứa độc_tố pederin </a:t>
                      </a:r>
                      <a:r>
                        <a:rPr lang="vi-VN">
                          <a:highlight>
                            <a:srgbClr val="FFFF00"/>
                          </a:highlight>
                        </a:rPr>
                        <a:t>độc_tính</a:t>
                      </a:r>
                      <a:r>
                        <a:rPr lang="vi-VN"/>
                        <a:t> gấp </a:t>
                      </a:r>
                      <a:r>
                        <a:rPr lang="vi-VN">
                          <a:highlight>
                            <a:srgbClr val="FFFF00"/>
                          </a:highlight>
                        </a:rPr>
                        <a:t>nọc rắn</a:t>
                      </a:r>
                      <a:r>
                        <a:rPr lang="vi-VN"/>
                        <a:t> hổ tác_động da axit da tiếp_xúc </a:t>
                      </a:r>
                      <a:r>
                        <a:rPr lang="vi-VN">
                          <a:highlight>
                            <a:srgbClr val="FFFF00"/>
                          </a:highlight>
                        </a:rPr>
                        <a:t>tổn_thương</a:t>
                      </a:r>
                      <a:r>
                        <a:rPr lang="vi-VN"/>
                        <a:t> </a:t>
                      </a:r>
                      <a:r>
                        <a:rPr lang="vi-VN">
                          <a:highlight>
                            <a:srgbClr val="FFFF00"/>
                          </a:highlight>
                        </a:rPr>
                        <a:t>bỏng rát</a:t>
                      </a:r>
                      <a:endParaRPr lang="en-US">
                        <a:highlight>
                          <a:srgbClr val="FFFF00"/>
                        </a:highlight>
                      </a:endParaRPr>
                    </a:p>
                  </a:txBody>
                  <a:tcPr/>
                </a:tc>
                <a:tc>
                  <a:txBody>
                    <a:bodyPr/>
                    <a:lstStyle/>
                    <a:p>
                      <a:r>
                        <a:rPr lang="vi-VN"/>
                        <a:t>Neutral</a:t>
                      </a:r>
                      <a:endParaRPr lang="en-US"/>
                    </a:p>
                  </a:txBody>
                  <a:tcPr/>
                </a:tc>
                <a:tc>
                  <a:txBody>
                    <a:bodyPr/>
                    <a:lstStyle/>
                    <a:p>
                      <a:r>
                        <a:rPr lang="vi-VN"/>
                        <a:t>Negative</a:t>
                      </a:r>
                      <a:endParaRPr lang="en-US"/>
                    </a:p>
                  </a:txBody>
                  <a:tcPr/>
                </a:tc>
                <a:tc>
                  <a:txBody>
                    <a:bodyPr/>
                    <a:lstStyle/>
                    <a:p>
                      <a:r>
                        <a:rPr lang="vi-VN"/>
                        <a:t>Mô hình bị "đánh lừa" bởi mật độ từ vựng tiêu cực dày đặc (độc tính, nọc rắn, tổn thương, bỏng rát) dù bài viết mang tính khách quan</a:t>
                      </a:r>
                      <a:endParaRPr lang="en-US"/>
                    </a:p>
                  </a:txBody>
                  <a:tcPr/>
                </a:tc>
                <a:extLst>
                  <a:ext uri="{0D108BD9-81ED-4DB2-BD59-A6C34878D82A}">
                    <a16:rowId xmlns:a16="http://schemas.microsoft.com/office/drawing/2014/main" val="2838884831"/>
                  </a:ext>
                </a:extLst>
              </a:tr>
              <a:tr h="370840">
                <a:tc>
                  <a:txBody>
                    <a:bodyPr/>
                    <a:lstStyle/>
                    <a:p>
                      <a:r>
                        <a:rPr lang="vi-VN"/>
                        <a:t>2</a:t>
                      </a:r>
                      <a:endParaRPr lang="en-US"/>
                    </a:p>
                  </a:txBody>
                  <a:tcPr/>
                </a:tc>
                <a:tc>
                  <a:txBody>
                    <a:bodyPr/>
                    <a:lstStyle/>
                    <a:p>
                      <a:r>
                        <a:rPr lang="en-US"/>
                        <a:t>indonesia sa_thải patrick kluivert thất_bại dự_án xây indonesia sa_thải patrick kluivert hụt vé world_cup kết_quả phản_ánh thất_bại dự_án xây</a:t>
                      </a:r>
                    </a:p>
                  </a:txBody>
                  <a:tcPr/>
                </a:tc>
                <a:tc>
                  <a:txBody>
                    <a:bodyPr/>
                    <a:lstStyle/>
                    <a:p>
                      <a:r>
                        <a:rPr lang="vi-VN"/>
                        <a:t>Negative </a:t>
                      </a:r>
                      <a:endParaRPr lang="en-US"/>
                    </a:p>
                  </a:txBody>
                  <a:tcPr/>
                </a:tc>
                <a:tc>
                  <a:txBody>
                    <a:bodyPr/>
                    <a:lstStyle/>
                    <a:p>
                      <a:r>
                        <a:rPr lang="vi-VN"/>
                        <a:t>Neutral </a:t>
                      </a:r>
                      <a:endParaRPr lang="en-US"/>
                    </a:p>
                  </a:txBody>
                  <a:tcPr/>
                </a:tc>
                <a:tc>
                  <a:txBody>
                    <a:bodyPr/>
                    <a:lstStyle/>
                    <a:p>
                      <a:r>
                        <a:rPr lang="vi-VN"/>
                        <a:t>Đây là tin về sự thất bại trong thể thao. Tuy nhiên giọng điệu trung lập khiến mô hình nhầm lẫn là tin trung lập.</a:t>
                      </a:r>
                      <a:endParaRPr lang="en-US"/>
                    </a:p>
                  </a:txBody>
                  <a:tcPr/>
                </a:tc>
                <a:extLst>
                  <a:ext uri="{0D108BD9-81ED-4DB2-BD59-A6C34878D82A}">
                    <a16:rowId xmlns:a16="http://schemas.microsoft.com/office/drawing/2014/main" val="2727099094"/>
                  </a:ext>
                </a:extLst>
              </a:tr>
              <a:tr h="370840">
                <a:tc>
                  <a:txBody>
                    <a:bodyPr/>
                    <a:lstStyle/>
                    <a:p>
                      <a:r>
                        <a:rPr lang="vi-VN"/>
                        <a:t>3</a:t>
                      </a:r>
                      <a:endParaRPr lang="en-US"/>
                    </a:p>
                  </a:txBody>
                  <a:tcPr/>
                </a:tc>
                <a:tc>
                  <a:txBody>
                    <a:bodyPr/>
                    <a:lstStyle/>
                    <a:p>
                      <a:r>
                        <a:rPr lang="en-US"/>
                        <a:t>startup robot hình trung quốc bắt kịp elon musk startup agibot trung quốc mục_tiêu sản_xuất robot hình cạnh_tranh optimus elon musk</a:t>
                      </a:r>
                    </a:p>
                  </a:txBody>
                  <a:tcPr/>
                </a:tc>
                <a:tc>
                  <a:txBody>
                    <a:bodyPr/>
                    <a:lstStyle/>
                    <a:p>
                      <a:r>
                        <a:rPr lang="vi-VN"/>
                        <a:t>Positive </a:t>
                      </a:r>
                      <a:endParaRPr lang="en-US"/>
                    </a:p>
                  </a:txBody>
                  <a:tcPr/>
                </a:tc>
                <a:tc>
                  <a:txBody>
                    <a:bodyPr/>
                    <a:lstStyle/>
                    <a:p>
                      <a:r>
                        <a:rPr lang="vi-VN"/>
                        <a:t>Negative </a:t>
                      </a:r>
                      <a:endParaRPr lang="en-US"/>
                    </a:p>
                  </a:txBody>
                  <a:tcPr/>
                </a:tc>
                <a:tc>
                  <a:txBody>
                    <a:bodyPr/>
                    <a:lstStyle/>
                    <a:p>
                      <a:r>
                        <a:rPr lang="vi-VN"/>
                        <a:t>Bài viết nói về sự tiến bộ. Tuy nhiên, từ khóa "cạnh tranh“ được mô hình học là mang nghĩa xung đột hoặc tiêu cực trong các ngữ cảnh khác.</a:t>
                      </a:r>
                      <a:endParaRPr lang="en-US"/>
                    </a:p>
                  </a:txBody>
                  <a:tcPr/>
                </a:tc>
                <a:extLst>
                  <a:ext uri="{0D108BD9-81ED-4DB2-BD59-A6C34878D82A}">
                    <a16:rowId xmlns:a16="http://schemas.microsoft.com/office/drawing/2014/main" val="4165861668"/>
                  </a:ext>
                </a:extLst>
              </a:tr>
            </a:tbl>
          </a:graphicData>
        </a:graphic>
      </p:graphicFrame>
    </p:spTree>
    <p:extLst>
      <p:ext uri="{BB962C8B-B14F-4D97-AF65-F5344CB8AC3E}">
        <p14:creationId xmlns:p14="http://schemas.microsoft.com/office/powerpoint/2010/main" val="3402958934"/>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6992-BACD-0AC2-4A76-793962E331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AEDC2-E1A1-E203-E74A-EF8BDEDC6CDA}"/>
              </a:ext>
            </a:extLst>
          </p:cNvPr>
          <p:cNvSpPr>
            <a:spLocks noGrp="1"/>
          </p:cNvSpPr>
          <p:nvPr>
            <p:ph type="title"/>
          </p:nvPr>
        </p:nvSpPr>
        <p:spPr/>
        <p:txBody>
          <a:bodyPr/>
          <a:lstStyle/>
          <a:p>
            <a:r>
              <a:rPr lang="en-US"/>
              <a:t>Thực nghiệm &amp; Đánh giá</a:t>
            </a:r>
          </a:p>
        </p:txBody>
      </p:sp>
      <p:graphicFrame>
        <p:nvGraphicFramePr>
          <p:cNvPr id="4" name="Content Placeholder 3">
            <a:extLst>
              <a:ext uri="{FF2B5EF4-FFF2-40B4-BE49-F238E27FC236}">
                <a16:creationId xmlns:a16="http://schemas.microsoft.com/office/drawing/2014/main" id="{BAEB580E-B6CD-2483-1CE6-7EBEB13A82A3}"/>
              </a:ext>
            </a:extLst>
          </p:cNvPr>
          <p:cNvGraphicFramePr>
            <a:graphicFrameLocks noGrp="1"/>
          </p:cNvGraphicFramePr>
          <p:nvPr>
            <p:ph idx="1"/>
            <p:extLst>
              <p:ext uri="{D42A27DB-BD31-4B8C-83A1-F6EECF244321}">
                <p14:modId xmlns:p14="http://schemas.microsoft.com/office/powerpoint/2010/main" val="3672652368"/>
              </p:ext>
            </p:extLst>
          </p:nvPr>
        </p:nvGraphicFramePr>
        <p:xfrm>
          <a:off x="609600" y="1600200"/>
          <a:ext cx="10996112" cy="4389120"/>
        </p:xfrm>
        <a:graphic>
          <a:graphicData uri="http://schemas.openxmlformats.org/drawingml/2006/table">
            <a:tbl>
              <a:tblPr firstRow="1" bandRow="1">
                <a:tableStyleId>{ED083AE6-46FA-4A59-8FB0-9F97EB10719F}</a:tableStyleId>
              </a:tblPr>
              <a:tblGrid>
                <a:gridCol w="267100">
                  <a:extLst>
                    <a:ext uri="{9D8B030D-6E8A-4147-A177-3AD203B41FA5}">
                      <a16:colId xmlns:a16="http://schemas.microsoft.com/office/drawing/2014/main" val="3978365393"/>
                    </a:ext>
                  </a:extLst>
                </a:gridCol>
                <a:gridCol w="2899772">
                  <a:extLst>
                    <a:ext uri="{9D8B030D-6E8A-4147-A177-3AD203B41FA5}">
                      <a16:colId xmlns:a16="http://schemas.microsoft.com/office/drawing/2014/main" val="3327691341"/>
                    </a:ext>
                  </a:extLst>
                </a:gridCol>
                <a:gridCol w="3995928">
                  <a:extLst>
                    <a:ext uri="{9D8B030D-6E8A-4147-A177-3AD203B41FA5}">
                      <a16:colId xmlns:a16="http://schemas.microsoft.com/office/drawing/2014/main" val="1172221236"/>
                    </a:ext>
                  </a:extLst>
                </a:gridCol>
                <a:gridCol w="1106424">
                  <a:extLst>
                    <a:ext uri="{9D8B030D-6E8A-4147-A177-3AD203B41FA5}">
                      <a16:colId xmlns:a16="http://schemas.microsoft.com/office/drawing/2014/main" val="239510281"/>
                    </a:ext>
                  </a:extLst>
                </a:gridCol>
                <a:gridCol w="1024128">
                  <a:extLst>
                    <a:ext uri="{9D8B030D-6E8A-4147-A177-3AD203B41FA5}">
                      <a16:colId xmlns:a16="http://schemas.microsoft.com/office/drawing/2014/main" val="2051390444"/>
                    </a:ext>
                  </a:extLst>
                </a:gridCol>
                <a:gridCol w="1702760">
                  <a:extLst>
                    <a:ext uri="{9D8B030D-6E8A-4147-A177-3AD203B41FA5}">
                      <a16:colId xmlns:a16="http://schemas.microsoft.com/office/drawing/2014/main" val="1864090029"/>
                    </a:ext>
                  </a:extLst>
                </a:gridCol>
              </a:tblGrid>
              <a:tr h="370840">
                <a:tc>
                  <a:txBody>
                    <a:bodyPr/>
                    <a:lstStyle/>
                    <a:p>
                      <a:r>
                        <a:rPr lang="vi-VN"/>
                        <a:t>#</a:t>
                      </a:r>
                    </a:p>
                  </a:txBody>
                  <a:tcPr/>
                </a:tc>
                <a:tc>
                  <a:txBody>
                    <a:bodyPr/>
                    <a:lstStyle/>
                    <a:p>
                      <a:r>
                        <a:rPr lang="vi-VN"/>
                        <a:t>Nội dung</a:t>
                      </a:r>
                      <a:endParaRPr lang="en-US"/>
                    </a:p>
                  </a:txBody>
                  <a:tcPr/>
                </a:tc>
                <a:tc>
                  <a:txBody>
                    <a:bodyPr/>
                    <a:lstStyle/>
                    <a:p>
                      <a:r>
                        <a:rPr lang="vi-VN"/>
                        <a:t>Nội dung gốc</a:t>
                      </a:r>
                      <a:endParaRPr lang="en-US"/>
                    </a:p>
                  </a:txBody>
                  <a:tcPr/>
                </a:tc>
                <a:tc>
                  <a:txBody>
                    <a:bodyPr/>
                    <a:lstStyle/>
                    <a:p>
                      <a:r>
                        <a:rPr lang="vi-VN"/>
                        <a:t>True label</a:t>
                      </a:r>
                      <a:endParaRPr lang="en-US"/>
                    </a:p>
                  </a:txBody>
                  <a:tcPr/>
                </a:tc>
                <a:tc>
                  <a:txBody>
                    <a:bodyPr/>
                    <a:lstStyle/>
                    <a:p>
                      <a:r>
                        <a:rPr lang="vi-VN"/>
                        <a:t>Pred label</a:t>
                      </a:r>
                      <a:endParaRPr lang="en-US"/>
                    </a:p>
                  </a:txBody>
                  <a:tcPr/>
                </a:tc>
                <a:tc>
                  <a:txBody>
                    <a:bodyPr/>
                    <a:lstStyle/>
                    <a:p>
                      <a:r>
                        <a:rPr lang="vi-VN"/>
                        <a:t>Lí do</a:t>
                      </a:r>
                      <a:endParaRPr lang="en-US"/>
                    </a:p>
                  </a:txBody>
                  <a:tcPr/>
                </a:tc>
                <a:extLst>
                  <a:ext uri="{0D108BD9-81ED-4DB2-BD59-A6C34878D82A}">
                    <a16:rowId xmlns:a16="http://schemas.microsoft.com/office/drawing/2014/main" val="2693234397"/>
                  </a:ext>
                </a:extLst>
              </a:tr>
              <a:tr h="370840">
                <a:tc>
                  <a:txBody>
                    <a:bodyPr/>
                    <a:lstStyle/>
                    <a:p>
                      <a:r>
                        <a:rPr lang="vi-VN"/>
                        <a:t>1</a:t>
                      </a:r>
                      <a:endParaRPr lang="en-US"/>
                    </a:p>
                  </a:txBody>
                  <a:tcPr/>
                </a:tc>
                <a:tc>
                  <a:txBody>
                    <a:bodyPr/>
                    <a:lstStyle/>
                    <a:p>
                      <a:r>
                        <a:rPr lang="vi-VN"/>
                        <a:t>vợ mua thuốc hạ_mỡ máu uống khuyên chồng n t l long biên hà nội tình_cờ đọc thông_tin mạng rối_loạn mỡ máu mua thuốc hạ_mỡ máu uống </a:t>
                      </a:r>
                      <a:r>
                        <a:rPr lang="vi-VN">
                          <a:highlight>
                            <a:srgbClr val="FFFF00"/>
                          </a:highlight>
                        </a:rPr>
                        <a:t>khuyên chồng xét_nghiệm</a:t>
                      </a:r>
                      <a:endParaRPr lang="en-US">
                        <a:highlight>
                          <a:srgbClr val="FFFF00"/>
                        </a:highlight>
                      </a:endParaRPr>
                    </a:p>
                  </a:txBody>
                  <a:tcPr/>
                </a:tc>
                <a:tc>
                  <a:txBody>
                    <a:bodyPr/>
                    <a:lstStyle/>
                    <a:p>
                      <a:r>
                        <a:rPr lang="vi-VN"/>
                        <a:t>"Người vợ tự mua thuốc hạ mỡ máu về uống và khuyên chồng dùng chung — … tình cờ đọc được thông tin trên mạng về rối loạn mỡ máu, sau đó mua thuốc hạ mỡ máu về uống và </a:t>
                      </a:r>
                      <a:r>
                        <a:rPr lang="vi-VN">
                          <a:highlight>
                            <a:srgbClr val="FFFF00"/>
                          </a:highlight>
                        </a:rPr>
                        <a:t>khuyên chồng dùng chung mà không xét nghiệm</a:t>
                      </a:r>
                      <a:r>
                        <a:rPr lang="vi-VN"/>
                        <a:t>."</a:t>
                      </a:r>
                      <a:endParaRPr lang="en-US"/>
                    </a:p>
                  </a:txBody>
                  <a:tcPr/>
                </a:tc>
                <a:tc>
                  <a:txBody>
                    <a:bodyPr/>
                    <a:lstStyle/>
                    <a:p>
                      <a:r>
                        <a:rPr lang="vi-VN"/>
                        <a:t>Negative </a:t>
                      </a:r>
                      <a:endParaRPr lang="en-US"/>
                    </a:p>
                  </a:txBody>
                  <a:tcPr/>
                </a:tc>
                <a:tc>
                  <a:txBody>
                    <a:bodyPr/>
                    <a:lstStyle/>
                    <a:p>
                      <a:r>
                        <a:rPr lang="vi-VN"/>
                        <a:t>Neutral </a:t>
                      </a:r>
                      <a:endParaRPr lang="en-US"/>
                    </a:p>
                  </a:txBody>
                  <a:tcPr/>
                </a:tc>
                <a:tc>
                  <a:txBody>
                    <a:bodyPr/>
                    <a:lstStyle/>
                    <a:p>
                      <a:r>
                        <a:rPr lang="en-US"/>
                        <a:t>Mô hình hiểu nhầm hành động "nguy hại sức khỏe“</a:t>
                      </a:r>
                      <a:r>
                        <a:rPr lang="vi-VN"/>
                        <a:t> </a:t>
                      </a:r>
                      <a:r>
                        <a:rPr lang="en-US"/>
                        <a:t>thành hành động "khuyên đi khám bệnh"</a:t>
                      </a:r>
                    </a:p>
                  </a:txBody>
                  <a:tcPr/>
                </a:tc>
                <a:extLst>
                  <a:ext uri="{0D108BD9-81ED-4DB2-BD59-A6C34878D82A}">
                    <a16:rowId xmlns:a16="http://schemas.microsoft.com/office/drawing/2014/main" val="2838884831"/>
                  </a:ext>
                </a:extLst>
              </a:tr>
              <a:tr h="370840">
                <a:tc>
                  <a:txBody>
                    <a:bodyPr/>
                    <a:lstStyle/>
                    <a:p>
                      <a:r>
                        <a:rPr lang="vi-VN"/>
                        <a:t>2</a:t>
                      </a:r>
                      <a:endParaRPr lang="en-US"/>
                    </a:p>
                  </a:txBody>
                  <a:tcPr/>
                </a:tc>
                <a:tc>
                  <a:txBody>
                    <a:bodyPr/>
                    <a:lstStyle/>
                    <a:p>
                      <a:r>
                        <a:rPr lang="en-US"/>
                        <a:t>ca_sĩ hồ ngọc hà hoàng_tử ballad thế_hệ minh khôi giọng ca_</a:t>
                      </a:r>
                      <a:r>
                        <a:rPr lang="en-US">
                          <a:highlight>
                            <a:srgbClr val="FFFF00"/>
                          </a:highlight>
                        </a:rPr>
                        <a:t>hát thu âm</a:t>
                      </a:r>
                      <a:r>
                        <a:rPr lang="en-US"/>
                        <a:t> hồ ngọc hà hoàng_tử ballad thế_hệ</a:t>
                      </a:r>
                    </a:p>
                  </a:txBody>
                  <a:tcPr/>
                </a:tc>
                <a:tc>
                  <a:txBody>
                    <a:bodyPr/>
                    <a:lstStyle/>
                    <a:p>
                      <a:r>
                        <a:rPr lang="vi-VN"/>
                        <a:t>Ca sĩ khiến Hồ Ngọc Hà phải thốt lên 'Hoàng tử ballad thế hệ mới' là ai? — Minh Khôi - giọng ca </a:t>
                      </a:r>
                      <a:r>
                        <a:rPr lang="vi-VN">
                          <a:highlight>
                            <a:srgbClr val="FFFF00"/>
                          </a:highlight>
                        </a:rPr>
                        <a:t>hát trực tiếp mà như bản thu âm</a:t>
                      </a:r>
                      <a:r>
                        <a:rPr lang="vi-VN"/>
                        <a:t>, khiến Hồ Ngọc Hà phải thốt lên đây là Hoàng tử ballad thế hệ mới.</a:t>
                      </a:r>
                      <a:endParaRPr lang="en-US"/>
                    </a:p>
                  </a:txBody>
                  <a:tcPr/>
                </a:tc>
                <a:tc>
                  <a:txBody>
                    <a:bodyPr/>
                    <a:lstStyle/>
                    <a:p>
                      <a:r>
                        <a:rPr lang="vi-VN"/>
                        <a:t>Positive </a:t>
                      </a:r>
                      <a:endParaRPr lang="en-US"/>
                    </a:p>
                  </a:txBody>
                  <a:tcPr/>
                </a:tc>
                <a:tc>
                  <a:txBody>
                    <a:bodyPr/>
                    <a:lstStyle/>
                    <a:p>
                      <a:r>
                        <a:rPr lang="vi-VN"/>
                        <a:t>Neutral </a:t>
                      </a:r>
                      <a:endParaRPr lang="en-US"/>
                    </a:p>
                  </a:txBody>
                  <a:tcPr/>
                </a:tc>
                <a:tc>
                  <a:txBody>
                    <a:bodyPr/>
                    <a:lstStyle/>
                    <a:p>
                      <a:r>
                        <a:rPr lang="vi-VN"/>
                        <a:t>Câu văn bị biến đổi từ một lời khen thành một câu liệt kê hoạt động</a:t>
                      </a:r>
                      <a:endParaRPr lang="en-US"/>
                    </a:p>
                  </a:txBody>
                  <a:tcPr/>
                </a:tc>
                <a:extLst>
                  <a:ext uri="{0D108BD9-81ED-4DB2-BD59-A6C34878D82A}">
                    <a16:rowId xmlns:a16="http://schemas.microsoft.com/office/drawing/2014/main" val="2727099094"/>
                  </a:ext>
                </a:extLst>
              </a:tr>
            </a:tbl>
          </a:graphicData>
        </a:graphic>
      </p:graphicFrame>
    </p:spTree>
    <p:extLst>
      <p:ext uri="{BB962C8B-B14F-4D97-AF65-F5344CB8AC3E}">
        <p14:creationId xmlns:p14="http://schemas.microsoft.com/office/powerpoint/2010/main" val="398930309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9B5C-A862-C899-FDEE-B5EAB26D1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2D1C6-773A-0CF3-1056-31773BE58038}"/>
              </a:ext>
            </a:extLst>
          </p:cNvPr>
          <p:cNvSpPr>
            <a:spLocks noGrp="1"/>
          </p:cNvSpPr>
          <p:nvPr>
            <p:ph type="title"/>
          </p:nvPr>
        </p:nvSpPr>
        <p:spPr/>
        <p:txBody>
          <a:bodyPr/>
          <a:lstStyle/>
          <a:p>
            <a:r>
              <a:rPr lang="en-US"/>
              <a:t>Thực nghiệm &amp; Đánh giá</a:t>
            </a:r>
          </a:p>
        </p:txBody>
      </p:sp>
      <p:sp>
        <p:nvSpPr>
          <p:cNvPr id="3" name="Content Placeholder 2">
            <a:extLst>
              <a:ext uri="{FF2B5EF4-FFF2-40B4-BE49-F238E27FC236}">
                <a16:creationId xmlns:a16="http://schemas.microsoft.com/office/drawing/2014/main" id="{B585CE3A-8FA6-ECB4-C8D3-3E6A3C8CA16F}"/>
              </a:ext>
            </a:extLst>
          </p:cNvPr>
          <p:cNvSpPr>
            <a:spLocks noGrp="1"/>
          </p:cNvSpPr>
          <p:nvPr>
            <p:ph idx="1"/>
          </p:nvPr>
        </p:nvSpPr>
        <p:spPr/>
        <p:txBody>
          <a:bodyPr/>
          <a:lstStyle/>
          <a:p>
            <a:r>
              <a:rPr lang="vi-VN"/>
              <a:t>Hiệu quả vượt trội của Transformer (BERT/PhoBERT) chứng minh tính hiệu quả của kỹ thuật Transfer Learning đối với các bài toán có dữ liệu huấn luyện nhỏ.</a:t>
            </a:r>
          </a:p>
          <a:p>
            <a:r>
              <a:rPr lang="vi-VN">
                <a:solidFill>
                  <a:srgbClr val="FF0000"/>
                </a:solidFill>
              </a:rPr>
              <a:t>Sự ổn định của Machine Learning truyền thống. </a:t>
            </a:r>
          </a:p>
          <a:p>
            <a:r>
              <a:rPr lang="vi-VN"/>
              <a:t>Các mô hình Deep Learning thuần túy (CNN/GRU) chưa tạo được đột phá do thiếu dữ liệu lớn để tự học các đặc trưng sâu.</a:t>
            </a:r>
          </a:p>
          <a:p>
            <a:r>
              <a:rPr lang="vi-VN">
                <a:solidFill>
                  <a:srgbClr val="FF0000"/>
                </a:solidFill>
              </a:rPr>
              <a:t>Decision Tree kém hiệu quả do dễ bị quá khớp (overfitting) và không nắm bắt tốt ngữ nghĩa trong không gian vector thưa.</a:t>
            </a:r>
          </a:p>
          <a:p>
            <a:endParaRPr lang="vi-VN"/>
          </a:p>
        </p:txBody>
      </p:sp>
    </p:spTree>
    <p:extLst>
      <p:ext uri="{BB962C8B-B14F-4D97-AF65-F5344CB8AC3E}">
        <p14:creationId xmlns:p14="http://schemas.microsoft.com/office/powerpoint/2010/main" val="1825286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C54EC-ADC2-A67C-E1F9-252444DD8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809B3-CF75-1E56-E63F-6D88B1A25EE4}"/>
              </a:ext>
            </a:extLst>
          </p:cNvPr>
          <p:cNvSpPr>
            <a:spLocks noGrp="1"/>
          </p:cNvSpPr>
          <p:nvPr>
            <p:ph type="title"/>
          </p:nvPr>
        </p:nvSpPr>
        <p:spPr/>
        <p:txBody>
          <a:bodyPr/>
          <a:lstStyle/>
          <a:p>
            <a:r>
              <a:rPr lang="en-US" noProof="1"/>
              <a:t>Kết luận: Ưu điểm &amp; Hạn chế</a:t>
            </a:r>
          </a:p>
        </p:txBody>
      </p:sp>
      <p:sp>
        <p:nvSpPr>
          <p:cNvPr id="3" name="Text Placeholder 2">
            <a:extLst>
              <a:ext uri="{FF2B5EF4-FFF2-40B4-BE49-F238E27FC236}">
                <a16:creationId xmlns:a16="http://schemas.microsoft.com/office/drawing/2014/main" id="{87A6759C-012C-EE7E-03AA-9052E21C30A8}"/>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109785946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3CE1D-7197-BCD3-FD79-A373013B631F}"/>
              </a:ext>
            </a:extLst>
          </p:cNvPr>
          <p:cNvSpPr>
            <a:spLocks noGrp="1"/>
          </p:cNvSpPr>
          <p:nvPr>
            <p:ph type="title"/>
          </p:nvPr>
        </p:nvSpPr>
        <p:spPr/>
        <p:txBody>
          <a:bodyPr/>
          <a:lstStyle/>
          <a:p>
            <a:r>
              <a:rPr lang="en-US" noProof="1"/>
              <a:t>Kết luận: Ưu điểm &amp; Hạn chế</a:t>
            </a:r>
          </a:p>
        </p:txBody>
      </p:sp>
      <p:sp>
        <p:nvSpPr>
          <p:cNvPr id="3" name="Content Placeholder 2">
            <a:extLst>
              <a:ext uri="{FF2B5EF4-FFF2-40B4-BE49-F238E27FC236}">
                <a16:creationId xmlns:a16="http://schemas.microsoft.com/office/drawing/2014/main" id="{B80C3E9D-E206-BFDD-AE1C-B21A2C8D5ECB}"/>
              </a:ext>
            </a:extLst>
          </p:cNvPr>
          <p:cNvSpPr>
            <a:spLocks noGrp="1"/>
          </p:cNvSpPr>
          <p:nvPr>
            <p:ph idx="1"/>
          </p:nvPr>
        </p:nvSpPr>
        <p:spPr/>
        <p:txBody>
          <a:bodyPr/>
          <a:lstStyle/>
          <a:p>
            <a:r>
              <a:rPr lang="en-US" noProof="1"/>
              <a:t>Quy trình xây dựng dữ liệu chặt chẽ và tin cậy</a:t>
            </a:r>
          </a:p>
          <a:p>
            <a:r>
              <a:rPr lang="en-US" noProof="1">
                <a:solidFill>
                  <a:srgbClr val="FF0000"/>
                </a:solidFill>
              </a:rPr>
              <a:t>Chất lượng dữ liệu tốt và cân bằng</a:t>
            </a:r>
          </a:p>
          <a:p>
            <a:r>
              <a:rPr lang="en-US" noProof="1"/>
              <a:t>Chiến lược trích xuất thông tin hiệu quả</a:t>
            </a:r>
          </a:p>
          <a:p>
            <a:r>
              <a:rPr lang="en-US" noProof="1">
                <a:solidFill>
                  <a:srgbClr val="FF0000"/>
                </a:solidFill>
              </a:rPr>
              <a:t>Thực nghiệm đa dạng</a:t>
            </a:r>
          </a:p>
          <a:p>
            <a:r>
              <a:rPr lang="en-US" noProof="1"/>
              <a:t>Hiệu quả vượt trội của Transfer Learning: BERT, PhoBERT </a:t>
            </a:r>
          </a:p>
        </p:txBody>
      </p:sp>
    </p:spTree>
    <p:extLst>
      <p:ext uri="{BB962C8B-B14F-4D97-AF65-F5344CB8AC3E}">
        <p14:creationId xmlns:p14="http://schemas.microsoft.com/office/powerpoint/2010/main" val="270064631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658A0-4B2B-4D5F-062C-D9CE8D240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97034-27D5-14E6-66CC-45EBD27F5E4E}"/>
              </a:ext>
            </a:extLst>
          </p:cNvPr>
          <p:cNvSpPr>
            <a:spLocks noGrp="1"/>
          </p:cNvSpPr>
          <p:nvPr>
            <p:ph type="title"/>
          </p:nvPr>
        </p:nvSpPr>
        <p:spPr/>
        <p:txBody>
          <a:bodyPr/>
          <a:lstStyle/>
          <a:p>
            <a:r>
              <a:rPr lang="en-US" noProof="1"/>
              <a:t>Kết luận: Ưu điểm &amp; Hạn chế</a:t>
            </a:r>
          </a:p>
        </p:txBody>
      </p:sp>
      <p:sp>
        <p:nvSpPr>
          <p:cNvPr id="3" name="Content Placeholder 2">
            <a:extLst>
              <a:ext uri="{FF2B5EF4-FFF2-40B4-BE49-F238E27FC236}">
                <a16:creationId xmlns:a16="http://schemas.microsoft.com/office/drawing/2014/main" id="{B91B27CB-EECE-59AA-8491-5430535938B8}"/>
              </a:ext>
            </a:extLst>
          </p:cNvPr>
          <p:cNvSpPr>
            <a:spLocks noGrp="1"/>
          </p:cNvSpPr>
          <p:nvPr>
            <p:ph idx="1"/>
          </p:nvPr>
        </p:nvSpPr>
        <p:spPr/>
        <p:txBody>
          <a:bodyPr/>
          <a:lstStyle/>
          <a:p>
            <a:r>
              <a:rPr lang="en-US" noProof="1"/>
              <a:t>Kích thước dữ liệu còn hạn chế đối với Deep Learning</a:t>
            </a:r>
          </a:p>
          <a:p>
            <a:r>
              <a:rPr lang="en-US" noProof="1">
                <a:solidFill>
                  <a:srgbClr val="FF0000"/>
                </a:solidFill>
              </a:rPr>
              <a:t>Thách thức về ngữ cảnh (Contextual Challenges)</a:t>
            </a:r>
          </a:p>
          <a:p>
            <a:r>
              <a:rPr lang="en-US" noProof="1"/>
              <a:t>Độ phức tạp của ngôn ngữ báo chí</a:t>
            </a:r>
          </a:p>
        </p:txBody>
      </p:sp>
    </p:spTree>
    <p:extLst>
      <p:ext uri="{BB962C8B-B14F-4D97-AF65-F5344CB8AC3E}">
        <p14:creationId xmlns:p14="http://schemas.microsoft.com/office/powerpoint/2010/main" val="3902312704"/>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1E20-3446-2A4B-E141-95AE5A975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DFE09-066C-FF4C-45AC-05433D926335}"/>
              </a:ext>
            </a:extLst>
          </p:cNvPr>
          <p:cNvSpPr>
            <a:spLocks noGrp="1"/>
          </p:cNvSpPr>
          <p:nvPr>
            <p:ph type="title"/>
          </p:nvPr>
        </p:nvSpPr>
        <p:spPr/>
        <p:txBody>
          <a:bodyPr/>
          <a:lstStyle/>
          <a:p>
            <a:r>
              <a:rPr lang="en-US" noProof="1"/>
              <a:t>Tài liệu tham khảo</a:t>
            </a:r>
          </a:p>
        </p:txBody>
      </p:sp>
      <p:sp>
        <p:nvSpPr>
          <p:cNvPr id="3" name="Text Placeholder 2">
            <a:extLst>
              <a:ext uri="{FF2B5EF4-FFF2-40B4-BE49-F238E27FC236}">
                <a16:creationId xmlns:a16="http://schemas.microsoft.com/office/drawing/2014/main" id="{0656DE89-EAA7-1B2A-4524-BDA3E96FC9B8}"/>
              </a:ext>
            </a:extLst>
          </p:cNvPr>
          <p:cNvSpPr>
            <a:spLocks noGrp="1"/>
          </p:cNvSpPr>
          <p:nvPr>
            <p:ph type="body" idx="1"/>
          </p:nvPr>
        </p:nvSpPr>
        <p:spPr/>
        <p:txBody>
          <a:bodyPr/>
          <a:lstStyle/>
          <a:p>
            <a:endParaRPr lang="en-US" noProof="1"/>
          </a:p>
        </p:txBody>
      </p:sp>
    </p:spTree>
    <p:extLst>
      <p:ext uri="{BB962C8B-B14F-4D97-AF65-F5344CB8AC3E}">
        <p14:creationId xmlns:p14="http://schemas.microsoft.com/office/powerpoint/2010/main" val="39812867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3EF45-9878-1517-DC81-1FE9A3C9E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D8F2C-5F1C-C259-932A-BC3E03BA64F4}"/>
              </a:ext>
            </a:extLst>
          </p:cNvPr>
          <p:cNvSpPr>
            <a:spLocks noGrp="1"/>
          </p:cNvSpPr>
          <p:nvPr>
            <p:ph type="title"/>
          </p:nvPr>
        </p:nvSpPr>
        <p:spPr/>
        <p:txBody>
          <a:bodyPr/>
          <a:lstStyle/>
          <a:p>
            <a:r>
              <a:rPr lang="en-US" noProof="1"/>
              <a:t>Tài liệu tham khảo</a:t>
            </a:r>
          </a:p>
        </p:txBody>
      </p:sp>
      <p:sp>
        <p:nvSpPr>
          <p:cNvPr id="4" name="Content Placeholder 3">
            <a:extLst>
              <a:ext uri="{FF2B5EF4-FFF2-40B4-BE49-F238E27FC236}">
                <a16:creationId xmlns:a16="http://schemas.microsoft.com/office/drawing/2014/main" id="{BF60F7D3-60C3-1D3C-06F3-0C8678966923}"/>
              </a:ext>
            </a:extLst>
          </p:cNvPr>
          <p:cNvSpPr>
            <a:spLocks noGrp="1"/>
          </p:cNvSpPr>
          <p:nvPr>
            <p:ph idx="1"/>
          </p:nvPr>
        </p:nvSpPr>
        <p:spPr/>
        <p:txBody>
          <a:bodyPr/>
          <a:lstStyle/>
          <a:p>
            <a:pPr marL="0" indent="0">
              <a:buNone/>
            </a:pPr>
            <a:r>
              <a:rPr lang="en-US" noProof="1"/>
              <a:t>[1] S. T. Luu et al., "A large-scale dataset for hate speech detection on Vietnamese social media texts," arXiv preprint arXiv:2103.11528, 2021.</a:t>
            </a:r>
          </a:p>
        </p:txBody>
      </p:sp>
    </p:spTree>
    <p:extLst>
      <p:ext uri="{BB962C8B-B14F-4D97-AF65-F5344CB8AC3E}">
        <p14:creationId xmlns:p14="http://schemas.microsoft.com/office/powerpoint/2010/main" val="244709620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3A3D3-B028-F565-64B4-0A98A16DE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FC581-FB44-8544-CC74-02CB93F32408}"/>
              </a:ext>
            </a:extLst>
          </p:cNvPr>
          <p:cNvSpPr>
            <a:spLocks noGrp="1"/>
          </p:cNvSpPr>
          <p:nvPr>
            <p:ph type="title"/>
          </p:nvPr>
        </p:nvSpPr>
        <p:spPr/>
        <p:txBody>
          <a:bodyPr/>
          <a:lstStyle/>
          <a:p>
            <a:r>
              <a:rPr lang="en-US" noProof="1"/>
              <a:t>Công trình thực hiện</a:t>
            </a:r>
          </a:p>
        </p:txBody>
      </p:sp>
      <p:sp>
        <p:nvSpPr>
          <p:cNvPr id="4" name="Content Placeholder 3">
            <a:extLst>
              <a:ext uri="{FF2B5EF4-FFF2-40B4-BE49-F238E27FC236}">
                <a16:creationId xmlns:a16="http://schemas.microsoft.com/office/drawing/2014/main" id="{1FA1C11E-7268-4C12-992B-7F9C570B6660}"/>
              </a:ext>
            </a:extLst>
          </p:cNvPr>
          <p:cNvSpPr>
            <a:spLocks noGrp="1"/>
          </p:cNvSpPr>
          <p:nvPr>
            <p:ph idx="1"/>
          </p:nvPr>
        </p:nvSpPr>
        <p:spPr/>
        <p:txBody>
          <a:bodyPr/>
          <a:lstStyle/>
          <a:p>
            <a:r>
              <a:rPr lang="en-US" noProof="1"/>
              <a:t>Công trình của nhóm được public tại: </a:t>
            </a:r>
            <a:r>
              <a:rPr lang="en-US" noProof="1">
                <a:hlinkClick r:id="rId2"/>
              </a:rPr>
              <a:t>Github</a:t>
            </a:r>
            <a:r>
              <a:rPr lang="en-US" noProof="1"/>
              <a:t>.</a:t>
            </a:r>
          </a:p>
        </p:txBody>
      </p:sp>
    </p:spTree>
    <p:extLst>
      <p:ext uri="{BB962C8B-B14F-4D97-AF65-F5344CB8AC3E}">
        <p14:creationId xmlns:p14="http://schemas.microsoft.com/office/powerpoint/2010/main" val="237420226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noProof="1"/>
              <a:t>Cảm ơn thầy và các bạn đã lắng nghe</a:t>
            </a:r>
            <a:br>
              <a:rPr lang="en-US" sz="4000" noProof="1">
                <a:solidFill>
                  <a:srgbClr val="0066FF"/>
                </a:solidFill>
              </a:rPr>
            </a:br>
            <a:r>
              <a:rPr lang="en-US" sz="3200" noProof="1">
                <a:solidFill>
                  <a:srgbClr val="0066FF"/>
                </a:solidFill>
              </a:rPr>
              <a:t>TRƯỜNG ĐẠI HỌC CÔNG NGHỆ THÔNG TIN TP.HCM</a:t>
            </a:r>
            <a:endParaRPr lang="en-US" sz="4000" noProof="1">
              <a:solidFill>
                <a:srgbClr val="0066FF"/>
              </a:solidFill>
            </a:endParaRPr>
          </a:p>
        </p:txBody>
      </p:sp>
    </p:spTree>
    <p:extLst>
      <p:ext uri="{BB962C8B-B14F-4D97-AF65-F5344CB8AC3E}">
        <p14:creationId xmlns:p14="http://schemas.microsoft.com/office/powerpoint/2010/main" val="2729217778"/>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4498</Words>
  <Application>Microsoft Office PowerPoint</Application>
  <PresentationFormat>Widescreen</PresentationFormat>
  <Paragraphs>434</Paragraphs>
  <Slides>68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Cambria Math</vt:lpstr>
      <vt:lpstr>Consolas</vt:lpstr>
      <vt:lpstr>Courier New</vt:lpstr>
      <vt:lpstr>Default Design</vt:lpstr>
      <vt:lpstr>Xây Dựng Dữ Liệu Và Mô Hình Phân Loại Đánh Giá Sự Tích Cực/Tiêu Cực Của Các Tin Báo Trên Các Trang Mạng</vt:lpstr>
      <vt:lpstr>Động lực thực hiện</vt:lpstr>
      <vt:lpstr>Động lực thực hiện</vt:lpstr>
      <vt:lpstr>Động lực thực hiện</vt:lpstr>
      <vt:lpstr>Định nghĩa bài toán</vt:lpstr>
      <vt:lpstr>Định nghĩa bài toán</vt:lpstr>
      <vt:lpstr>Định nghĩa bài toán</vt:lpstr>
      <vt:lpstr>Trích xuất dữ liệu</vt:lpstr>
      <vt:lpstr>Trích xuất dữ liệu</vt:lpstr>
      <vt:lpstr>Quy trình trích xuất</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Xây dựng Guildline</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Quy trình gán nhãn &amp; Kiểm soát chất lượng</vt:lpstr>
      <vt:lpstr>Tổng quan về bộ ngữ liệu</vt:lpstr>
      <vt:lpstr>Thống kê &amp; Phân bố dữ liệu</vt:lpstr>
      <vt:lpstr>Thống kê &amp; Phân bố dữ liệu</vt:lpstr>
      <vt:lpstr>Thực nghiệm &amp; Đánh giá</vt:lpstr>
      <vt:lpstr>Data Preprocessing</vt:lpstr>
      <vt:lpstr>Feature Extraction</vt:lpstr>
      <vt:lpstr>Model Implementations</vt:lpstr>
      <vt:lpstr>Model Implementations</vt:lpstr>
      <vt:lpstr>Model Implementations</vt:lpstr>
      <vt:lpstr>Model Implementations</vt:lpstr>
      <vt:lpstr>Model Implementations</vt:lpstr>
      <vt:lpstr>Model Implementations</vt:lpstr>
      <vt:lpstr>Model Implementations</vt:lpstr>
      <vt:lpstr>Thực nghiệm &amp; Đánh giá</vt:lpstr>
      <vt:lpstr>Thực nghiệm &amp; Đánh giá</vt:lpstr>
      <vt:lpstr>Thực nghiệm &amp; Đánh giá</vt:lpstr>
      <vt:lpstr>Thực nghiệm &amp; Đánh giá</vt:lpstr>
      <vt:lpstr>Thực nghiệm &amp; Đánh giá</vt:lpstr>
      <vt:lpstr>Kết luận: Ưu điểm &amp; Hạn chế</vt:lpstr>
      <vt:lpstr>Kết luận: Ưu điểm &amp; Hạn chế</vt:lpstr>
      <vt:lpstr>Kết luận: Ưu điểm &amp; Hạn chế</vt:lpstr>
      <vt:lpstr>Tài liệu tham khảo</vt:lpstr>
      <vt:lpstr>Tài liệu tham khảo</vt:lpstr>
      <vt:lpstr>Công trình thực hiện</vt:lpstr>
      <vt:lpstr>Cảm ơn thầy và các bạn đã lắng nghe TRƯỜNG ĐẠI HỌC CÔNG NGHỆ THÔNG TIN TP.HCM</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Đức Thành Lê</cp:lastModifiedBy>
  <cp:revision>1</cp:revision>
  <cp:lastPrinted>2013-08-30T01:32:34Z</cp:lastPrinted>
  <dcterms:created xsi:type="dcterms:W3CDTF">2008-06-14T04:13:27Z</dcterms:created>
  <dcterms:modified xsi:type="dcterms:W3CDTF">2026-01-02T00:24:10Z</dcterms:modified>
</cp:coreProperties>
</file>